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jDsB2gDZCj9gmFfBeVtJosOBrLP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Jonathan Kim"/>
  <p:cmAuthor clrIdx="1" id="1" initials="" lastIdx="3" name="Christopher Pedrett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7-15T00:34:56.424">
    <p:pos x="6000" y="0"/>
    <p:text>Jonathan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B-SOoA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7-15T00:20:59.395">
    <p:pos x="6000" y="0"/>
    <p:text>chris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B-SOn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6-07-15T00:53:20.053">
    <p:pos x="6000" y="0"/>
    <p:text>chris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B-SOnw"/>
      </p:ext>
    </p:extLst>
  </p:cm>
  <p:cm authorId="1" idx="3" dt="2026-07-15T00:53:20.053">
    <p:pos x="6000" y="0"/>
    <p:text>https://claude.ai/share/fd7e24c3-fa21-411b-b3fe-832720905288 review research here.</p:text>
    <p:extLst>
      <p:ext uri="{C676402C-5697-4E1C-873F-D02D1690AC5C}">
        <p15:threadingInfo timeZoneBias="0">
          <p15:parentCm authorId="1" idx="2"/>
        </p15:threadingInfo>
      </p:ext>
      <p:ext uri="http://customooxmlschemas.google.com/">
        <go:slidesCustomData xmlns:go="http://customooxmlschemas.google.com/" commentPostId="AAACAB-SOoM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7-15T00:35:19.282">
    <p:pos x="6000" y="0"/>
    <p:text>Jonathan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CAB-SOoI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30 seconds. We're Group 6, building the Persuasion-Aware Ad Explainer: an NLP system that tells you, in plain language, which persuasion tactics an ad is using and what real customers say about the product. One presenter today; everyone's role is on screen.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90 seconds. Anchor the user: adults 60+, heavily targeted by health and money ads. The pain isn't just that ads persuade — it's that today's coping strategies (right side, straight from our user conversations) are all manual and inconsistent. No one has a reliable method.</a:t>
            </a:r>
            <a:endParaRPr/>
          </a:p>
        </p:txBody>
      </p:sp>
      <p:sp>
        <p:nvSpPr>
          <p:cNvPr id="107" name="Google Shape;10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minutes. Show, don't tell: open ads_dataset_full.csv or run the collection script live if time allows. Three pipelines are real code today — regex text scraper, faster-whisper/WASAPI audio capture, OCR for screenshots — and they converge into one 7,768-row labeled CSV. Be upfront about the audio chunking bug and that the fix is in progress.</a:t>
            </a:r>
            <a:endParaRPr/>
          </a:p>
        </p:txBody>
      </p:sp>
      <p:sp>
        <p:nvSpPr>
          <p:cNvPr id="136" name="Google Shape;13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90 seconds. The professor asked for a concrete picture of the end product — this is our working system blueprint. Walk the four stages left to right on the diagram: user hits a confusing ad, submits it via app or extension, input processing normalizes it, the analysis model produces tactic/claim analysis plus review evidence, and the user gets one friendly explanation.</a:t>
            </a:r>
            <a:endParaRPr/>
          </a:p>
        </p:txBody>
      </p:sp>
      <p:sp>
        <p:nvSpPr>
          <p:cNvPr id="159" name="Google Shape;1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 minutes — the professor said this is what they most want to see. Lead with what real users told us and what it changed: it validated the review-insight layer and told us to catch users at the ad, not after the click. Then own the gap honestly: the tool itself hasn't been user-tested yet, and that's the top priority for the second half.</a:t>
            </a:r>
            <a:endParaRPr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90 seconds, then leave 2 minutes for questions. Decision: persevere. The problem and the appetite for third-party evidence are validated, the data engine works, and nothing yet argues against the concept — the open question is usability, which is exactly what the second half attacks: finish the dataset, train the classifier, build the explanation and review layers, ship the MVP surface, and put it in front of 60+ users before demo day.</a:t>
            </a:r>
            <a:endParaRPr/>
          </a:p>
        </p:txBody>
      </p:sp>
      <p:sp>
        <p:nvSpPr>
          <p:cNvPr id="199" name="Google Shape;19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1.xml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47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822960" y="370985"/>
            <a:ext cx="106071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AdInsight</a:t>
            </a:r>
            <a:endParaRPr b="1" sz="46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2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Helping </a:t>
            </a:r>
            <a:r>
              <a:rPr b="1" lang="en-US" sz="2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Users</a:t>
            </a:r>
            <a:r>
              <a:rPr b="1" lang="en-US" sz="2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lang="en-US" sz="2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Understand</a:t>
            </a:r>
            <a:r>
              <a:rPr b="1" lang="en-US" sz="2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the Persuasion Behind Every Advertisement </a:t>
            </a:r>
            <a:endParaRPr b="1" sz="2500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1998952"/>
            <a:ext cx="96927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BFD9DE"/>
                </a:solidFill>
                <a:latin typeface="Calibri"/>
                <a:ea typeface="Calibri"/>
                <a:cs typeface="Calibri"/>
                <a:sym typeface="Calibri"/>
              </a:rPr>
              <a:t>An AI tool that analyzes advertisement text, identifies persuasive tactics, and explains how they're used to influence consumers.</a:t>
            </a:r>
            <a:endParaRPr i="1" sz="1900">
              <a:solidFill>
                <a:srgbClr val="BFD9D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900">
              <a:solidFill>
                <a:srgbClr val="BFD9D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22960" y="2982402"/>
            <a:ext cx="7315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What AdInsight Detects</a:t>
            </a:r>
            <a:endParaRPr sz="1500"/>
          </a:p>
        </p:txBody>
      </p:sp>
      <p:sp>
        <p:nvSpPr>
          <p:cNvPr id="88" name="Google Shape;88;p1"/>
          <p:cNvSpPr/>
          <p:nvPr/>
        </p:nvSpPr>
        <p:spPr>
          <a:xfrm>
            <a:off x="822960" y="3346704"/>
            <a:ext cx="815100" cy="329100"/>
          </a:xfrm>
          <a:prstGeom prst="roundRect">
            <a:avLst>
              <a:gd fmla="val 50000" name="adj"/>
            </a:avLst>
          </a:prstGeom>
          <a:solidFill>
            <a:srgbClr val="15485A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D5A6"/>
                </a:solidFill>
                <a:latin typeface="Calibri"/>
                <a:ea typeface="Calibri"/>
                <a:cs typeface="Calibri"/>
                <a:sym typeface="Calibri"/>
              </a:rPr>
              <a:t>Urgency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784223" y="3346704"/>
            <a:ext cx="777000" cy="329100"/>
          </a:xfrm>
          <a:prstGeom prst="roundRect">
            <a:avLst>
              <a:gd fmla="val 50000" name="adj"/>
            </a:avLst>
          </a:prstGeom>
          <a:solidFill>
            <a:srgbClr val="15485A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D5A6"/>
                </a:solidFill>
                <a:latin typeface="Calibri"/>
                <a:ea typeface="Calibri"/>
                <a:cs typeface="Calibri"/>
                <a:sym typeface="Calibri"/>
              </a:rPr>
              <a:t>Scarcity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2707386" y="3346704"/>
            <a:ext cx="710100" cy="329100"/>
          </a:xfrm>
          <a:prstGeom prst="roundRect">
            <a:avLst>
              <a:gd fmla="val 50000" name="adj"/>
            </a:avLst>
          </a:prstGeom>
          <a:solidFill>
            <a:srgbClr val="15485A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D5A6"/>
                </a:solidFill>
                <a:latin typeface="Calibri"/>
                <a:ea typeface="Calibri"/>
                <a:cs typeface="Calibri"/>
                <a:sym typeface="Calibri"/>
              </a:rPr>
              <a:t>FOMO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3563874" y="3346704"/>
            <a:ext cx="1072200" cy="329100"/>
          </a:xfrm>
          <a:prstGeom prst="roundRect">
            <a:avLst>
              <a:gd fmla="val 50000" name="adj"/>
            </a:avLst>
          </a:prstGeom>
          <a:solidFill>
            <a:srgbClr val="15485A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D5A6"/>
                </a:solidFill>
                <a:latin typeface="Calibri"/>
                <a:ea typeface="Calibri"/>
                <a:cs typeface="Calibri"/>
                <a:sym typeface="Calibri"/>
              </a:rPr>
              <a:t>Fear appeals</a:t>
            </a:r>
            <a:endParaRPr/>
          </a:p>
        </p:txBody>
      </p:sp>
      <p:sp>
        <p:nvSpPr>
          <p:cNvPr id="92" name="Google Shape;92;p1"/>
          <p:cNvSpPr/>
          <p:nvPr/>
        </p:nvSpPr>
        <p:spPr>
          <a:xfrm>
            <a:off x="4782312" y="3346704"/>
            <a:ext cx="891300" cy="329100"/>
          </a:xfrm>
          <a:prstGeom prst="roundRect">
            <a:avLst>
              <a:gd fmla="val 50000" name="adj"/>
            </a:avLst>
          </a:prstGeom>
          <a:solidFill>
            <a:srgbClr val="15485A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D5A6"/>
                </a:solidFill>
                <a:latin typeface="Calibri"/>
                <a:ea typeface="Calibri"/>
                <a:cs typeface="Calibri"/>
                <a:sym typeface="Calibri"/>
              </a:rPr>
              <a:t>Authority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5819775" y="3346704"/>
            <a:ext cx="1024500" cy="329100"/>
          </a:xfrm>
          <a:prstGeom prst="roundRect">
            <a:avLst>
              <a:gd fmla="val 50000" name="adj"/>
            </a:avLst>
          </a:prstGeom>
          <a:solidFill>
            <a:srgbClr val="15485A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D5A6"/>
                </a:solidFill>
                <a:latin typeface="Calibri"/>
                <a:ea typeface="Calibri"/>
                <a:cs typeface="Calibri"/>
                <a:sym typeface="Calibri"/>
              </a:rPr>
              <a:t>Social proof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990588" y="3346704"/>
            <a:ext cx="1453200" cy="329100"/>
          </a:xfrm>
          <a:prstGeom prst="roundRect">
            <a:avLst>
              <a:gd fmla="val 50000" name="adj"/>
            </a:avLst>
          </a:prstGeom>
          <a:solidFill>
            <a:srgbClr val="15485A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2D5A6"/>
                </a:solidFill>
                <a:latin typeface="Calibri"/>
                <a:ea typeface="Calibri"/>
                <a:cs typeface="Calibri"/>
                <a:sym typeface="Calibri"/>
              </a:rPr>
              <a:t>Exaggerated claims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822960" y="4553712"/>
            <a:ext cx="2743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THE TEAM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822960" y="491947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Chris Pedretti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22960" y="52303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Engineering · Data &amp; Eval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3520440" y="4919472"/>
            <a:ext cx="2560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Jonathan Kim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3520440" y="52303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 Data Collection, Preprocessing and</a:t>
            </a:r>
            <a:endParaRPr sz="1100">
              <a:solidFill>
                <a:srgbClr val="8FB6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100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Annotation</a:t>
            </a:r>
            <a:endParaRPr sz="1100">
              <a:solidFill>
                <a:srgbClr val="8FB6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6217920" y="491947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Ciara Cameron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6217920" y="5230368"/>
            <a:ext cx="2560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Data Quality, Annotation &amp; Evaluation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8915400" y="4919472"/>
            <a:ext cx="25603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Shashank Ashoka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8915400" y="5230368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App · Browser Extension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/>
        </p:nvSpPr>
        <p:spPr>
          <a:xfrm>
            <a:off x="822960" y="4572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lang="en-US" sz="3200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roblem: </a:t>
            </a:r>
            <a:r>
              <a:rPr b="1" lang="en-US" sz="3200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ersuasion </a:t>
            </a:r>
            <a:r>
              <a:rPr b="1" lang="en-US" sz="3200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Y</a:t>
            </a: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ou </a:t>
            </a:r>
            <a:r>
              <a:rPr b="1" lang="en-US" sz="3200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C</a:t>
            </a: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an't </a:t>
            </a:r>
            <a:r>
              <a:rPr b="1" lang="en-US" sz="3200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S</a:t>
            </a: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ee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22960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users recognize the offer, but not the persuasive tactics behind it.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822960" y="178308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822950" y="2103123"/>
            <a:ext cx="5760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Older adults and everyday internet users who regularly encounter online advertisements.</a:t>
            </a:r>
            <a:endParaRPr sz="1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822960" y="2891683"/>
            <a:ext cx="576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THE P</a:t>
            </a:r>
            <a:r>
              <a:rPr b="1" lang="en-US" sz="12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ROBLEM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822960" y="3242449"/>
            <a:ext cx="57606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recognize the offer, but not the persuasion tactic.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Emotional language can encourage impulsive decisions.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no simple way to explain </a:t>
            </a:r>
            <a:r>
              <a:rPr i="1"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</a:t>
            </a:r>
            <a:r>
              <a:rPr lang="en-US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 advertisement is trying to influence the user.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22960" y="4659769"/>
            <a:ext cx="576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F5E12"/>
                </a:solidFill>
                <a:latin typeface="Calibri"/>
                <a:ea typeface="Calibri"/>
                <a:cs typeface="Calibri"/>
                <a:sym typeface="Calibri"/>
              </a:rPr>
              <a:t>THE S</a:t>
            </a:r>
            <a:r>
              <a:rPr b="1" lang="en-US" sz="1200">
                <a:solidFill>
                  <a:srgbClr val="8F5E12"/>
                </a:solidFill>
                <a:latin typeface="Calibri"/>
                <a:ea typeface="Calibri"/>
                <a:cs typeface="Calibri"/>
                <a:sym typeface="Calibri"/>
              </a:rPr>
              <a:t>OLUTION</a:t>
            </a:r>
            <a:endParaRPr sz="1200"/>
          </a:p>
        </p:txBody>
      </p:sp>
      <p:sp>
        <p:nvSpPr>
          <p:cNvPr id="116" name="Google Shape;116;p2"/>
          <p:cNvSpPr/>
          <p:nvPr/>
        </p:nvSpPr>
        <p:spPr>
          <a:xfrm>
            <a:off x="801814" y="5075308"/>
            <a:ext cx="5760600" cy="914400"/>
          </a:xfrm>
          <a:prstGeom prst="roundRect">
            <a:avLst>
              <a:gd fmla="val 50000" name="adj"/>
            </a:avLst>
          </a:prstGeom>
          <a:solidFill>
            <a:srgbClr val="FBF3E3"/>
          </a:solidFill>
          <a:ln cap="flat" cmpd="sng" w="12700">
            <a:solidFill>
              <a:srgbClr val="E8A3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8F5E12"/>
                </a:solidFill>
                <a:latin typeface="Calibri"/>
                <a:ea typeface="Calibri"/>
                <a:cs typeface="Calibri"/>
                <a:sym typeface="Calibri"/>
              </a:rPr>
              <a:t>AdInsight analyzes advertisement text, identifies persuasive tactics, and explains them in plain language so users can make more informed decisions before clicking or purchasing.</a:t>
            </a:r>
            <a:endParaRPr sz="1300">
              <a:solidFill>
                <a:srgbClr val="8F5E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949440" y="1793322"/>
            <a:ext cx="4434900" cy="4343400"/>
          </a:xfrm>
          <a:prstGeom prst="roundRect">
            <a:avLst>
              <a:gd fmla="val 8000" name="adj"/>
            </a:avLst>
          </a:prstGeom>
          <a:solidFill>
            <a:srgbClr val="ED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269480" y="2084831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Current User Behavior 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7269480" y="2432304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100" u="none" cap="none" strike="noStrike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from our user conversations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7269480" y="290322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7498079" y="283464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Ignore the ad</a:t>
            </a:r>
            <a:endParaRPr/>
          </a:p>
        </p:txBody>
      </p:sp>
      <p:sp>
        <p:nvSpPr>
          <p:cNvPr id="122" name="Google Shape;122;p2"/>
          <p:cNvSpPr/>
          <p:nvPr/>
        </p:nvSpPr>
        <p:spPr>
          <a:xfrm>
            <a:off x="7269480" y="3305556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7498079" y="3236976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Click through and judge</a:t>
            </a:r>
            <a:r>
              <a:rPr lang="en-US" sz="130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 the website</a:t>
            </a:r>
            <a:endParaRPr/>
          </a:p>
        </p:txBody>
      </p:sp>
      <p:sp>
        <p:nvSpPr>
          <p:cNvPr id="124" name="Google Shape;124;p2"/>
          <p:cNvSpPr/>
          <p:nvPr/>
        </p:nvSpPr>
        <p:spPr>
          <a:xfrm>
            <a:off x="7269480" y="3707891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7498079" y="3639312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r>
              <a:rPr lang="en-US" sz="130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30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the company</a:t>
            </a:r>
            <a:endParaRPr/>
          </a:p>
        </p:txBody>
      </p:sp>
      <p:sp>
        <p:nvSpPr>
          <p:cNvPr id="126" name="Google Shape;126;p2"/>
          <p:cNvSpPr/>
          <p:nvPr/>
        </p:nvSpPr>
        <p:spPr>
          <a:xfrm>
            <a:off x="7269480" y="4110228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7498079" y="4041648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Read </a:t>
            </a:r>
            <a:r>
              <a:rPr b="0" i="0" lang="en-US" sz="130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endParaRPr/>
          </a:p>
        </p:txBody>
      </p:sp>
      <p:sp>
        <p:nvSpPr>
          <p:cNvPr id="128" name="Google Shape;128;p2"/>
          <p:cNvSpPr/>
          <p:nvPr/>
        </p:nvSpPr>
        <p:spPr>
          <a:xfrm>
            <a:off x="7269480" y="4512564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7498079" y="4443984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Search Reddit</a:t>
            </a:r>
            <a:endParaRPr/>
          </a:p>
        </p:txBody>
      </p:sp>
      <p:sp>
        <p:nvSpPr>
          <p:cNvPr id="130" name="Google Shape;130;p2"/>
          <p:cNvSpPr/>
          <p:nvPr/>
        </p:nvSpPr>
        <p:spPr>
          <a:xfrm>
            <a:off x="7269480" y="4914900"/>
            <a:ext cx="109728" cy="10972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7498079" y="484632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Ask friends or family</a:t>
            </a:r>
            <a:endParaRPr/>
          </a:p>
        </p:txBody>
      </p:sp>
      <p:sp>
        <p:nvSpPr>
          <p:cNvPr id="132" name="Google Shape;132;p2"/>
          <p:cNvSpPr txBox="1"/>
          <p:nvPr/>
        </p:nvSpPr>
        <p:spPr>
          <a:xfrm>
            <a:off x="7269480" y="5413248"/>
            <a:ext cx="3794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8F5E12"/>
                </a:solidFill>
                <a:latin typeface="Calibri"/>
                <a:ea typeface="Calibri"/>
                <a:cs typeface="Calibri"/>
                <a:sym typeface="Calibri"/>
              </a:rPr>
              <a:t>No single tool explains </a:t>
            </a:r>
            <a:r>
              <a:rPr b="1" i="1" lang="en-US" sz="1300">
                <a:solidFill>
                  <a:srgbClr val="8F5E12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r>
              <a:rPr b="1" lang="en-US" sz="1300">
                <a:solidFill>
                  <a:srgbClr val="8F5E12"/>
                </a:solidFill>
                <a:latin typeface="Calibri"/>
                <a:ea typeface="Calibri"/>
                <a:cs typeface="Calibri"/>
                <a:sym typeface="Calibri"/>
              </a:rPr>
              <a:t> an ad is persuasive.</a:t>
            </a:r>
            <a:endParaRPr b="1" sz="1300">
              <a:solidFill>
                <a:srgbClr val="8F5E1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/>
        </p:nvSpPr>
        <p:spPr>
          <a:xfrm>
            <a:off x="822960" y="4572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What we've built: the data engine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822960" y="1115568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The MVP so far is a multi-modal collection pipeline — three input types funneling into one labeled dataset.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1751725" y="1481276"/>
            <a:ext cx="3456300" cy="1837500"/>
          </a:xfrm>
          <a:prstGeom prst="roundRect">
            <a:avLst>
              <a:gd fmla="val 8000" name="adj"/>
            </a:avLst>
          </a:prstGeom>
          <a:solidFill>
            <a:srgbClr val="ED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2044343" y="1773888"/>
            <a:ext cx="475500" cy="4755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2666135" y="1856184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Text ads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2044343" y="2487120"/>
            <a:ext cx="2880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Scripted collection of ad copy using regex-based extraction, cleaned and written straight to the dataset CSV.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6392500" y="1481348"/>
            <a:ext cx="3456300" cy="1837500"/>
          </a:xfrm>
          <a:prstGeom prst="roundRect">
            <a:avLst>
              <a:gd fmla="val 8000" name="adj"/>
            </a:avLst>
          </a:prstGeom>
          <a:solidFill>
            <a:srgbClr val="EDF3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685107" y="1773951"/>
            <a:ext cx="475500" cy="4755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7306899" y="1856247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Image ads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6685107" y="2487183"/>
            <a:ext cx="28803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OCR pulls on-screen ad text from screenshots; its output was just merged into the unified dataset.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822960" y="5367520"/>
            <a:ext cx="3456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7,768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22960" y="6263632"/>
            <a:ext cx="3291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ad texts in the unified dataset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4507992" y="5367520"/>
            <a:ext cx="3456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4507992" y="6263632"/>
            <a:ext cx="3291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input modalities piloted — text</a:t>
            </a:r>
            <a:r>
              <a:rPr lang="en-US" sz="1250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0" i="0" lang="en-US" sz="1250" u="none" cap="none" strike="noStrike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8193024" y="5367520"/>
            <a:ext cx="3456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8193024" y="6263632"/>
            <a:ext cx="3291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annotation labels — 7 tactics + neutral — with written guidelines</a:t>
            </a:r>
            <a:endParaRPr/>
          </a:p>
        </p:txBody>
      </p:sp>
      <p:pic>
        <p:nvPicPr>
          <p:cNvPr id="154" name="Google Shape;15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675" y="3564605"/>
            <a:ext cx="10939050" cy="1035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6675" y="4752887"/>
            <a:ext cx="6531183" cy="462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/>
          <p:nvPr/>
        </p:nvSpPr>
        <p:spPr>
          <a:xfrm>
            <a:off x="822960" y="4572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Where it's headed: the end product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822960" y="1115568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A concrete blueprint — from ad encounter to plain-language verdict in four stages.</a:t>
            </a:r>
            <a:endParaRPr/>
          </a:p>
        </p:txBody>
      </p:sp>
      <p:sp>
        <p:nvSpPr>
          <p:cNvPr id="163" name="Google Shape;163;p4"/>
          <p:cNvSpPr/>
          <p:nvPr/>
        </p:nvSpPr>
        <p:spPr>
          <a:xfrm>
            <a:off x="822960" y="1737360"/>
            <a:ext cx="402336" cy="40233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1371600" y="1719072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Capture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371600" y="2048255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Upload or highlight any ad — text, </a:t>
            </a:r>
            <a:r>
              <a:rPr lang="en-US" sz="125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or screenshot</a:t>
            </a: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— in the app or the browser extension.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822960" y="2944368"/>
            <a:ext cx="402336" cy="40233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1371600" y="2926079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Extract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1371600" y="3255263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OCR</a:t>
            </a: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and text processing normalize every ad into clean text.</a:t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822960" y="4151376"/>
            <a:ext cx="402336" cy="40233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371600" y="4133088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A</a:t>
            </a:r>
            <a:r>
              <a:rPr b="1" lang="en-US" sz="1550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n</a:t>
            </a:r>
            <a:r>
              <a:rPr b="1" i="0" lang="en-US" sz="155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alyze</a:t>
            </a:r>
            <a:endParaRPr/>
          </a:p>
        </p:txBody>
      </p:sp>
      <p:sp>
        <p:nvSpPr>
          <p:cNvPr id="171" name="Google Shape;171;p4"/>
          <p:cNvSpPr txBox="1"/>
          <p:nvPr/>
        </p:nvSpPr>
        <p:spPr>
          <a:xfrm>
            <a:off x="1371600" y="4462272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The model flags persuasion tactics and checks claims, while the review layer pulls real user experiences from Reddit and review sites.</a:t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822960" y="5358383"/>
            <a:ext cx="402336" cy="40233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1371600" y="5340096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Explain</a:t>
            </a:r>
            <a:endParaRPr/>
          </a:p>
        </p:txBody>
      </p:sp>
      <p:sp>
        <p:nvSpPr>
          <p:cNvPr id="174" name="Google Shape;174;p4"/>
          <p:cNvSpPr txBox="1"/>
          <p:nvPr/>
        </p:nvSpPr>
        <p:spPr>
          <a:xfrm>
            <a:off x="1371600" y="5669279"/>
            <a:ext cx="4937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One friendly, plain-language explanation that helps the user decide with confidence.</a:t>
            </a:r>
            <a:endParaRPr/>
          </a:p>
        </p:txBody>
      </p:sp>
      <p:pic>
        <p:nvPicPr>
          <p:cNvPr id="175" name="Google Shape;175;p4" title="3c18c159-7b84-494e-8d98-d3b4d32b654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1760" y="1633728"/>
            <a:ext cx="5046640" cy="50718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 txBox="1"/>
          <p:nvPr/>
        </p:nvSpPr>
        <p:spPr>
          <a:xfrm>
            <a:off x="822960" y="4572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User </a:t>
            </a:r>
            <a:r>
              <a:rPr b="1" lang="en-US" sz="3200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insight: what the evidence tells us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822960" y="1115568"/>
            <a:ext cx="10332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5A6E75"/>
                </a:solidFill>
                <a:latin typeface="Calibri"/>
                <a:ea typeface="Calibri"/>
                <a:cs typeface="Calibri"/>
                <a:sym typeface="Calibri"/>
              </a:rPr>
              <a:t>Published data backs our core assumptions - and what we still need to test ourselves.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822960" y="178308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WHAT WE DID</a:t>
            </a:r>
            <a:endParaRPr/>
          </a:p>
        </p:txBody>
      </p:sp>
      <p:sp>
        <p:nvSpPr>
          <p:cNvPr id="184" name="Google Shape;184;p5"/>
          <p:cNvSpPr txBox="1"/>
          <p:nvPr/>
        </p:nvSpPr>
        <p:spPr>
          <a:xfrm>
            <a:off x="822960" y="2103120"/>
            <a:ext cx="6309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5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We reviewed published consumer research — FTC Consumer Sentinel data, AARP fraud surveys, BrightLocal's 2026 review survey, YouGov, and academic literature — on how people handle suspicious or too-good-to-be-true ads today. 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822960" y="2971800"/>
            <a:ext cx="6309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WHAT WE LEARNED</a:t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22960" y="3364992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1078992" y="3310128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Everyone has a workaround; nobody has a method.</a:t>
            </a:r>
            <a:r>
              <a:rPr lang="en-US" sz="130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79% say they know buying from social media ads is risky — yet more than 1 in 5 fraud losses started with a social media ad, post, or message. Coping is ad-hoc: check reviews (69%), Google the seller (51%), ask family — and it varies person to person, ad to ad. </a:t>
            </a:r>
            <a:r>
              <a:rPr i="1"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(AARP; YouGov)</a:t>
            </a:r>
            <a:r>
              <a:rPr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822960" y="4297680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1078992" y="4242816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People already hunt for third-party evidence.</a:t>
            </a:r>
            <a:r>
              <a:rPr lang="en-US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95% of consumers read reviews before a purchase decision, and 74% check at least two review sites. Even the FTC's advice is to search a seller's name plus "scam" or "complaint" before buying — the exact search our review-insight layer automates. </a:t>
            </a:r>
            <a:r>
              <a:rPr i="1"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(BrightLocal; FTC)</a:t>
            </a:r>
            <a:r>
              <a:rPr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822960" y="5230368"/>
            <a:ext cx="118872" cy="118872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1078992" y="5175504"/>
            <a:ext cx="6035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Suspicion often arrives too late.</a:t>
            </a: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63% say the old tells — poor grammar, cheap design — no longer feel reliable, and more than 40% of social-media scam losses began with ordering from an ad, with most people discovering the fraud only when goods never arrived. The tool must meet users at the ad itself. </a:t>
            </a:r>
            <a:r>
              <a:rPr i="1"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(Chain Store Age; FTC)</a:t>
            </a:r>
            <a:r>
              <a:rPr lang="en-US" sz="13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7452360" y="1783080"/>
            <a:ext cx="3931920" cy="4251960"/>
          </a:xfrm>
          <a:prstGeom prst="roundRect">
            <a:avLst>
              <a:gd fmla="val 8000" name="adj"/>
            </a:avLst>
          </a:prstGeom>
          <a:solidFill>
            <a:srgbClr val="FBF3E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7772400" y="210312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F5E12"/>
                </a:solidFill>
                <a:latin typeface="Calibri"/>
                <a:ea typeface="Calibri"/>
                <a:cs typeface="Calibri"/>
                <a:sym typeface="Calibri"/>
              </a:rPr>
              <a:t>THE GAP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7772400" y="251460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6323C"/>
                </a:solidFill>
                <a:latin typeface="Cambria"/>
                <a:ea typeface="Cambria"/>
                <a:cs typeface="Cambria"/>
                <a:sym typeface="Cambria"/>
              </a:rPr>
              <a:t>The MVP itself has not been in front of real users yet.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7772400" y="3310115"/>
            <a:ext cx="3291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16323C"/>
                </a:solidFill>
                <a:latin typeface="Calibri"/>
                <a:ea typeface="Calibri"/>
                <a:cs typeface="Calibri"/>
                <a:sym typeface="Calibri"/>
              </a:rPr>
              <a:t>— and neither have our assumptions, beyond desk research. That is the headline goal for the second half: moderated sessions with adults 60+ and a short poll of our own, measuring whether our explanations actually change how people judge an ad.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3A47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Persevere</a:t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822960" y="208483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 txBox="1"/>
          <p:nvPr/>
        </p:nvSpPr>
        <p:spPr>
          <a:xfrm>
            <a:off x="1097280" y="197510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Dropped Audio Data Modality</a:t>
            </a:r>
            <a:endParaRPr/>
          </a:p>
        </p:txBody>
      </p:sp>
      <p:sp>
        <p:nvSpPr>
          <p:cNvPr id="204" name="Google Shape;204;p7"/>
          <p:cNvSpPr txBox="1"/>
          <p:nvPr/>
        </p:nvSpPr>
        <p:spPr>
          <a:xfrm>
            <a:off x="1097280" y="2340864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Audio data collection proved inconsistent and difficult to standardize. To improve data quality, audio modality was removed and efforts redirected to remaining </a:t>
            </a:r>
            <a:r>
              <a:rPr lang="en-US" sz="1200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text and image modalities</a:t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4507992" y="208483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4782312" y="197510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Combined plurality of datasets</a:t>
            </a:r>
            <a:endParaRPr/>
          </a:p>
        </p:txBody>
      </p:sp>
      <p:sp>
        <p:nvSpPr>
          <p:cNvPr id="207" name="Google Shape;207;p7"/>
          <p:cNvSpPr txBox="1"/>
          <p:nvPr/>
        </p:nvSpPr>
        <p:spPr>
          <a:xfrm>
            <a:off x="4782312" y="2340864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Combined multiple publicly available advertising datasets comprising real ad data, synthetically generated text data samples, and OCR web-scraped image data</a:t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8193024" y="2084831"/>
            <a:ext cx="128016" cy="128016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 txBox="1"/>
          <p:nvPr/>
        </p:nvSpPr>
        <p:spPr>
          <a:xfrm>
            <a:off x="8467344" y="1975104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 towards class balance</a:t>
            </a:r>
            <a:endParaRPr/>
          </a:p>
        </p:txBody>
      </p:sp>
      <p:sp>
        <p:nvSpPr>
          <p:cNvPr id="210" name="Google Shape;210;p7"/>
          <p:cNvSpPr txBox="1"/>
          <p:nvPr/>
        </p:nvSpPr>
        <p:spPr>
          <a:xfrm>
            <a:off x="8467344" y="2340864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Implemented preprocessing techniques including text cleaning, duplicate removal, quality filtering and heuristic labeling to prepare a more balanced dataset</a:t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822960" y="4250187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8FB6BF"/>
                </a:solidFill>
                <a:latin typeface="Calibri"/>
                <a:ea typeface="Calibri"/>
                <a:cs typeface="Calibri"/>
                <a:sym typeface="Calibri"/>
              </a:rPr>
              <a:t>ROAD TO DEMO DAY</a:t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822960" y="4643380"/>
            <a:ext cx="1993500" cy="1828800"/>
          </a:xfrm>
          <a:prstGeom prst="roundRect">
            <a:avLst>
              <a:gd fmla="val 8000" name="adj"/>
            </a:avLst>
          </a:prstGeom>
          <a:solidFill>
            <a:srgbClr val="1548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1024128" y="4835404"/>
            <a:ext cx="160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/>
          </a:p>
        </p:txBody>
      </p:sp>
      <p:sp>
        <p:nvSpPr>
          <p:cNvPr id="214" name="Google Shape;214;p7"/>
          <p:cNvSpPr txBox="1"/>
          <p:nvPr/>
        </p:nvSpPr>
        <p:spPr>
          <a:xfrm>
            <a:off x="1024128" y="5274316"/>
            <a:ext cx="162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 &amp; annotate the multi-modal dataset</a:t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2935224" y="4643380"/>
            <a:ext cx="1993500" cy="1828800"/>
          </a:xfrm>
          <a:prstGeom prst="roundRect">
            <a:avLst>
              <a:gd fmla="val 8000" name="adj"/>
            </a:avLst>
          </a:prstGeom>
          <a:solidFill>
            <a:srgbClr val="1548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 txBox="1"/>
          <p:nvPr/>
        </p:nvSpPr>
        <p:spPr>
          <a:xfrm>
            <a:off x="3136392" y="4835404"/>
            <a:ext cx="160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3136392" y="5274316"/>
            <a:ext cx="162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 &amp; evaluate the tactic classifier (CLIP baseline)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047488" y="4643380"/>
            <a:ext cx="1993500" cy="1828800"/>
          </a:xfrm>
          <a:prstGeom prst="roundRect">
            <a:avLst>
              <a:gd fmla="val 8000" name="adj"/>
            </a:avLst>
          </a:prstGeom>
          <a:solidFill>
            <a:srgbClr val="1548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5248656" y="4835404"/>
            <a:ext cx="160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/>
          </a:p>
        </p:txBody>
      </p:sp>
      <p:sp>
        <p:nvSpPr>
          <p:cNvPr id="220" name="Google Shape;220;p7"/>
          <p:cNvSpPr txBox="1"/>
          <p:nvPr/>
        </p:nvSpPr>
        <p:spPr>
          <a:xfrm>
            <a:off x="5248656" y="5274316"/>
            <a:ext cx="162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the explanation &amp; review-insight layers</a:t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7159752" y="4643380"/>
            <a:ext cx="1993500" cy="1828800"/>
          </a:xfrm>
          <a:prstGeom prst="roundRect">
            <a:avLst>
              <a:gd fmla="val 8000" name="adj"/>
            </a:avLst>
          </a:prstGeom>
          <a:solidFill>
            <a:srgbClr val="1548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7360920" y="4835404"/>
            <a:ext cx="160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7360920" y="5274316"/>
            <a:ext cx="162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 the app &amp; browser-extension MVP</a:t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9272016" y="4643380"/>
            <a:ext cx="1993500" cy="1828800"/>
          </a:xfrm>
          <a:prstGeom prst="roundRect">
            <a:avLst>
              <a:gd fmla="val 8000" name="adj"/>
            </a:avLst>
          </a:prstGeom>
          <a:solidFill>
            <a:srgbClr val="1548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9473184" y="4835404"/>
            <a:ext cx="160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9473184" y="5274316"/>
            <a:ext cx="1627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Usability tests with 60+ users → demo day</a:t>
            </a:r>
            <a:endParaRPr/>
          </a:p>
        </p:txBody>
      </p:sp>
      <p:sp>
        <p:nvSpPr>
          <p:cNvPr id="227" name="Google Shape;227;p7"/>
          <p:cNvSpPr txBox="1"/>
          <p:nvPr/>
        </p:nvSpPr>
        <p:spPr>
          <a:xfrm>
            <a:off x="822950" y="3576988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North-Star Metric: F1 Score across the 7 persuasion class labels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Group 6</dc:creator>
</cp:coreProperties>
</file>