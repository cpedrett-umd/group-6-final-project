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 we're Group 6, and this is AdInsight. It's a tool that shows you how an ad is trying to persuade you — in plain language, with the evidence to check it. It detects these seven persuasion tactics, and I'll show it working live in about two minutes. Our roles are on screen; I'll be presenting for the team. [Target: 0:30]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this for adults sixty and older. They're the most heavily targeted group for health, supplement, insurance, and financial ads — and the FTC numbers show why it matters: reported fraud losses for people over sixty hit 2.4 billion dollars in 2024, roughly four times what they were in 2020, with the highest median loss of any age group.</a:t>
            </a:r>
          </a:p>
          <a:p/>
          <a:p>
            <a:r>
              <a:t>Before AdInsight, what people did about a suspicious ad was improvised: ignore it, click through and judge the landing page, Google it, check Amazon or Reddit, ask family. Our interviews found older users verify socially — or buy first and judge after. The key design decision: AdInsight doesn't say "scam" or "not scam." The concern usually isn't a false statement — it's the framing. "Only 3 left." "Doctor recommended." So we name the tactic, explain it in plain language, and let the person decide. [Target: 1:45]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system end to end — the diagram on the right. Three front ends — a web app, a desktop app, and a Chrome extension — all talk to one Flask endpoint.</a:t>
            </a:r>
          </a:p>
          <a:p/>
          <a:p>
            <a:r>
              <a:t>The pipeline has four steps. Read: for image ads, a vision-language model transcribes the ad — and it's restricted by prompt to transcription only, it may not name tactics or judge — with fully local OCR as the offline fallback. Classify: a fine-tuned DistilBERT, eight classes, with sliding windows so long ads still get scored end to end. Explain: every finding is badged with its evidence — either "model pick" with a confidence, or "phrase found," a trigger phrase from our labeling guidelines literally present in the ad. And below sixty percent confidence with no phrase, the system says "not sure" instead of guessing. Check: a review layer searches independent sources — advertiser-owned domains excluded, affiliate content flagged. And the whole thing is held together by 183 automated tests. [Target: 3:00]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show you, rather than describe it. (Switch to the app.)</a:t>
            </a:r>
          </a:p>
          <a:p/>
          <a:p>
            <a:r>
              <a:t>First, a loaded ad — I'll paste this: "FINAL HOURS: doctor-recommended MemoryMax Pro, only 7 bottles left." AdInsight finds five tactics, each one quoting the ad's own words back, and the banner says: take your time — nothing requires a decision today.</a:t>
            </a:r>
          </a:p>
          <a:p/>
          <a:p>
            <a:r>
              <a:t>Second, an image. I upload this screenshot — notice it shows "what we read from your image" first, at 98 percent OCR confidence, so a bad scan is visible, never silent — and then six tactics.</a:t>
            </a:r>
          </a:p>
          <a:p/>
          <a:p>
            <a:r>
              <a:t>Third — let's try to fool it. A clean bakery ad. It comes back Neutral. No false alarm. It didn't always — that fix is a story you'll hear in a minute.</a:t>
            </a:r>
          </a:p>
          <a:p/>
          <a:p>
            <a:r>
              <a:t>And fourth, the extension: same analysis overlaid on a real page, including screenshot capture for video ads. (Back to slides.) [Target: 5:00]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NLP. Our task is eight-way persuasion-tactic classification on 4,374 ads — and the number to remember from this slide is 435 out of 449. In our original corpus, that's how many Scarcity examples contained the exact phrase "limited stock." Nearly 97 percent. A model can ace that test by memorizing one phrase.</a:t>
            </a:r>
          </a:p>
          <a:p/>
          <a:p>
            <a:r>
              <a:t>So we rebuilt the data: 857 real e-commerce rows merged in from the Mathur et al. dark-patterns corpus, plus 287 Neutral examples so "no tactic" became a possible answer. Top-phrase coverage dropped by over twenty points, forcing the model to learn broader patterns. Protocol: stratified 70/15/15 split, 657 test ads never touched during tuning, class-weighted loss for the four-times imbalance. [Target: 6:15]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classifier is fine-tuned DistilBERT. Our metric is macro F1 — with imbalanced classes, accuracy would hide weak minority-class performance. We tuned with Hyperopt's TPE, sampling three configurations from a 72-config space; the winner — learning rate 5e-5, batch 16, three epochs — was retrained on the final corpus. And we ship it small: float16 halves the model to 134 megabytes with zero changed predictions, so everything you just saw runs on a CPU in about a second per ad. [Target: 7:00]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held-out data: 0.919 macro F1, 93 percent accuracy. But the honest comparison is against baselines on the same split: majority class gets 0.045; TF-IDF with logistic regression gets 0.894. That classical baseline being close is our shortcut story confirmed — formulaic ad phrasing rewards n-grams. DistilBERT's edge comes exactly where phrasing varies. The data rebuild also moved every headline number — macro F1 up from 0.896, and Social Proof, our weakest class, from 0.77 to 0.88. One caution we flag ourselves: Neutral scores a perfect 1.00 — that's a warning, not a result, because synthetic Neutral rows are trivially separable. [Target: 8:00]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where it fails, because this matters more than the last slide. We took six genuine ads from X, Instagram, and reels. On text extraction, the VLM crushed OCR — 89 percent of required strings versus 55. But classification barely moved: one of six correct with OCR text, zero of six with cleaner VLM text, and zero trigger phrases fired in eighteen runs. Four of the six were income-claim ads — a genre absent from our training data — and one produced a confident error: "Urgency, 98 percent" with no deadline anywhere in the ad. The saving grace: our confidence guard kept the system silent on four of six, and for this audience silence is the right failure mode. The takeaway sets our roadmap: the bottleneck is the training distribution, not the input pipeline. [Target: 9:15]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put AdInsight in front of six users in our target group, ages sixty to seventy-four, and had each one do four tasks: analyze a pasted text ad, analyze a screenshot, identify the main tactic, and explain the result in their own words. Five of six completed the text task without help, four of six the image task, all six identified the tactic, and five of six rated the explanation useful.</a:t>
            </a:r>
          </a:p>
          <a:p/>
          <a:p>
            <a:r>
              <a:t>What users did changed the product: the extracted-text read-back stays front and center because seeing "what the system read" was the most-praised feature; the jargon — "model pick" — was the main stumbling block, so we're simplifying it; and we're rewriting the low-confidence message so "no strong prediction" can't be read as "verified safe." We're honest about scope: a small single-session study shows the workflow is learnable — it can't measure long-term trust. [Target: 10:15]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commitments. Data rights: our training data is collected public ad text plus the published dark-patterns research corpus, credited — and labels are educational, never legal claims. Privacy: screenshots can contain more than the ad; the OCR path runs fully on-device, and anything that leaves the device requires configured API keys — a boundary that must be disclosed. Bias: the training distribution under-represents whole genres — we showed you income ads going zero for four — so strong test scores are not a promise. And when the model is wrong — it will be — every finding carries checkable evidence, and the tool prefers silence to false alarms. AdInsight supports judgment; it never replaces it. [Target: 11:00]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lessons we'd defend. Held-out is not the real world — we measured that gap ourselves. Explanations need evidence — users trusted the tool because it quotes the ad and shows its sources. And for this audience, silence beats a false alarm — that guard is a design choice. Thank you — happy to take questions. [Target: 11:30, then 2 min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3A47"/>
        </a:solidFill>
        <a:effectLst/>
      </p:bgPr>
    </p:bg>
    <p:spTree>
      <p:nvGrpSpPr>
        <p:cNvPr id="1" name=""/>
        <p:cNvGrpSpPr/>
        <p:nvPr/>
      </p:nvGrpSpPr>
      <p:grpSpPr/>
      <p:sp>
        <p:nvSpPr>
          <p:cNvPr id="2" name="TextBox 1"/>
          <p:cNvSpPr txBox="1"/>
          <p:nvPr/>
        </p:nvSpPr>
        <p:spPr>
          <a:xfrm>
            <a:off x="822960" y="566928"/>
            <a:ext cx="10515600" cy="256032"/>
          </a:xfrm>
          <a:prstGeom prst="rect">
            <a:avLst/>
          </a:prstGeom>
          <a:noFill/>
        </p:spPr>
        <p:txBody>
          <a:bodyPr wrap="square" lIns="0" rIns="0" tIns="0" bIns="0">
            <a:noAutofit/>
          </a:bodyPr>
          <a:lstStyle/>
          <a:p>
            <a:pPr algn="l">
              <a:lnSpc>
                <a:spcPct val="105000"/>
              </a:lnSpc>
            </a:pPr>
            <a:r>
              <a:rPr sz="1000" b="1" i="0">
                <a:solidFill>
                  <a:srgbClr val="8FB6BF"/>
                </a:solidFill>
                <a:latin typeface="Calibri"/>
              </a:rPr>
              <a:t>DATA / MSAI / MSML 641  ·  GROUP 6  ·  FINAL PROJECT  ·  AUGUST 19, 2026</a:t>
            </a:r>
          </a:p>
        </p:txBody>
      </p:sp>
      <p:sp>
        <p:nvSpPr>
          <p:cNvPr id="3" name="TextBox 2"/>
          <p:cNvSpPr txBox="1"/>
          <p:nvPr/>
        </p:nvSpPr>
        <p:spPr>
          <a:xfrm>
            <a:off x="822960" y="960120"/>
            <a:ext cx="10515600" cy="777240"/>
          </a:xfrm>
          <a:prstGeom prst="rect">
            <a:avLst/>
          </a:prstGeom>
          <a:noFill/>
        </p:spPr>
        <p:txBody>
          <a:bodyPr wrap="square" lIns="0" rIns="0" tIns="0" bIns="0">
            <a:noAutofit/>
          </a:bodyPr>
          <a:lstStyle/>
          <a:p>
            <a:pPr algn="l">
              <a:lnSpc>
                <a:spcPct val="105000"/>
              </a:lnSpc>
            </a:pPr>
            <a:r>
              <a:rPr sz="4400" b="1" i="0">
                <a:solidFill>
                  <a:srgbClr val="FFFFFF"/>
                </a:solidFill>
                <a:latin typeface="Cambria"/>
              </a:rPr>
              <a:t>AdInsight</a:t>
            </a:r>
          </a:p>
        </p:txBody>
      </p:sp>
      <p:sp>
        <p:nvSpPr>
          <p:cNvPr id="4" name="TextBox 3"/>
          <p:cNvSpPr txBox="1"/>
          <p:nvPr/>
        </p:nvSpPr>
        <p:spPr>
          <a:xfrm>
            <a:off x="822960" y="1783080"/>
            <a:ext cx="8778240" cy="685800"/>
          </a:xfrm>
          <a:prstGeom prst="rect">
            <a:avLst/>
          </a:prstGeom>
          <a:noFill/>
        </p:spPr>
        <p:txBody>
          <a:bodyPr wrap="square" lIns="0" rIns="0" tIns="0" bIns="0">
            <a:noAutofit/>
          </a:bodyPr>
          <a:lstStyle/>
          <a:p>
            <a:pPr algn="l">
              <a:lnSpc>
                <a:spcPct val="112000"/>
              </a:lnSpc>
            </a:pPr>
            <a:r>
              <a:rPr sz="1700" b="0" i="1">
                <a:solidFill>
                  <a:srgbClr val="BFD9DE"/>
                </a:solidFill>
                <a:latin typeface="Calibri"/>
              </a:rPr>
              <a:t>Shows you how an ad is trying to persuade you — in plain language, with the evidence to check it.</a:t>
            </a:r>
          </a:p>
        </p:txBody>
      </p:sp>
      <p:sp>
        <p:nvSpPr>
          <p:cNvPr id="5" name="TextBox 4"/>
          <p:cNvSpPr txBox="1"/>
          <p:nvPr/>
        </p:nvSpPr>
        <p:spPr>
          <a:xfrm>
            <a:off x="822960" y="2834640"/>
            <a:ext cx="7315200" cy="219456"/>
          </a:xfrm>
          <a:prstGeom prst="rect">
            <a:avLst/>
          </a:prstGeom>
          <a:noFill/>
        </p:spPr>
        <p:txBody>
          <a:bodyPr wrap="square" lIns="0" rIns="0" tIns="0" bIns="0">
            <a:noAutofit/>
          </a:bodyPr>
          <a:lstStyle/>
          <a:p>
            <a:pPr algn="l">
              <a:lnSpc>
                <a:spcPct val="105000"/>
              </a:lnSpc>
            </a:pPr>
            <a:r>
              <a:rPr sz="900" b="1" i="0">
                <a:solidFill>
                  <a:srgbClr val="8FB6BF"/>
                </a:solidFill>
                <a:latin typeface="Calibri"/>
              </a:rPr>
              <a:t>DETECTS SEVEN PERSUASION TACTICS</a:t>
            </a:r>
          </a:p>
        </p:txBody>
      </p:sp>
      <p:sp>
        <p:nvSpPr>
          <p:cNvPr id="6" name="Rounded Rectangle 5"/>
          <p:cNvSpPr/>
          <p:nvPr/>
        </p:nvSpPr>
        <p:spPr>
          <a:xfrm>
            <a:off x="822960" y="3127248"/>
            <a:ext cx="664845" cy="274320"/>
          </a:xfrm>
          <a:prstGeom prst="roundRect">
            <a:avLst>
              <a:gd name="adj" fmla="val 50000"/>
            </a:avLst>
          </a:prstGeom>
          <a:solidFill>
            <a:srgbClr val="15485A"/>
          </a:solidFill>
          <a:ln w="1270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2D5A6"/>
                </a:solidFill>
                <a:latin typeface="Calibri"/>
              </a:rPr>
              <a:t>Urgency</a:t>
            </a:r>
          </a:p>
        </p:txBody>
      </p:sp>
      <p:sp>
        <p:nvSpPr>
          <p:cNvPr id="7" name="Rounded Rectangle 6"/>
          <p:cNvSpPr/>
          <p:nvPr/>
        </p:nvSpPr>
        <p:spPr>
          <a:xfrm>
            <a:off x="1615821" y="3127248"/>
            <a:ext cx="645795" cy="274320"/>
          </a:xfrm>
          <a:prstGeom prst="roundRect">
            <a:avLst>
              <a:gd name="adj" fmla="val 50000"/>
            </a:avLst>
          </a:prstGeom>
          <a:solidFill>
            <a:srgbClr val="15485A"/>
          </a:solidFill>
          <a:ln w="1270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2D5A6"/>
                </a:solidFill>
                <a:latin typeface="Calibri"/>
              </a:rPr>
              <a:t>Scarcity</a:t>
            </a:r>
          </a:p>
        </p:txBody>
      </p:sp>
      <p:sp>
        <p:nvSpPr>
          <p:cNvPr id="8" name="Rounded Rectangle 7"/>
          <p:cNvSpPr/>
          <p:nvPr/>
        </p:nvSpPr>
        <p:spPr>
          <a:xfrm>
            <a:off x="2389632" y="3127248"/>
            <a:ext cx="579120" cy="274320"/>
          </a:xfrm>
          <a:prstGeom prst="roundRect">
            <a:avLst>
              <a:gd name="adj" fmla="val 50000"/>
            </a:avLst>
          </a:prstGeom>
          <a:solidFill>
            <a:srgbClr val="15485A"/>
          </a:solidFill>
          <a:ln w="1270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2D5A6"/>
                </a:solidFill>
                <a:latin typeface="Calibri"/>
              </a:rPr>
              <a:t>FOMO</a:t>
            </a:r>
          </a:p>
        </p:txBody>
      </p:sp>
      <p:sp>
        <p:nvSpPr>
          <p:cNvPr id="9" name="Rounded Rectangle 8"/>
          <p:cNvSpPr/>
          <p:nvPr/>
        </p:nvSpPr>
        <p:spPr>
          <a:xfrm>
            <a:off x="3096768" y="3127248"/>
            <a:ext cx="874395" cy="274320"/>
          </a:xfrm>
          <a:prstGeom prst="roundRect">
            <a:avLst>
              <a:gd name="adj" fmla="val 50000"/>
            </a:avLst>
          </a:prstGeom>
          <a:solidFill>
            <a:srgbClr val="15485A"/>
          </a:solidFill>
          <a:ln w="1270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2D5A6"/>
                </a:solidFill>
                <a:latin typeface="Calibri"/>
              </a:rPr>
              <a:t>Fear appeals</a:t>
            </a:r>
          </a:p>
        </p:txBody>
      </p:sp>
      <p:sp>
        <p:nvSpPr>
          <p:cNvPr id="10" name="Rounded Rectangle 9"/>
          <p:cNvSpPr/>
          <p:nvPr/>
        </p:nvSpPr>
        <p:spPr>
          <a:xfrm>
            <a:off x="4099179" y="3127248"/>
            <a:ext cx="712470" cy="274320"/>
          </a:xfrm>
          <a:prstGeom prst="roundRect">
            <a:avLst>
              <a:gd name="adj" fmla="val 50000"/>
            </a:avLst>
          </a:prstGeom>
          <a:solidFill>
            <a:srgbClr val="15485A"/>
          </a:solidFill>
          <a:ln w="1270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2D5A6"/>
                </a:solidFill>
                <a:latin typeface="Calibri"/>
              </a:rPr>
              <a:t>Authority</a:t>
            </a:r>
          </a:p>
        </p:txBody>
      </p:sp>
      <p:sp>
        <p:nvSpPr>
          <p:cNvPr id="11" name="Rounded Rectangle 10"/>
          <p:cNvSpPr/>
          <p:nvPr/>
        </p:nvSpPr>
        <p:spPr>
          <a:xfrm>
            <a:off x="4939665" y="3127248"/>
            <a:ext cx="826769" cy="274320"/>
          </a:xfrm>
          <a:prstGeom prst="roundRect">
            <a:avLst>
              <a:gd name="adj" fmla="val 50000"/>
            </a:avLst>
          </a:prstGeom>
          <a:solidFill>
            <a:srgbClr val="15485A"/>
          </a:solidFill>
          <a:ln w="1270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2D5A6"/>
                </a:solidFill>
                <a:latin typeface="Calibri"/>
              </a:rPr>
              <a:t>Social proof</a:t>
            </a:r>
          </a:p>
        </p:txBody>
      </p:sp>
      <p:sp>
        <p:nvSpPr>
          <p:cNvPr id="12" name="Rounded Rectangle 11"/>
          <p:cNvSpPr/>
          <p:nvPr/>
        </p:nvSpPr>
        <p:spPr>
          <a:xfrm>
            <a:off x="5894451" y="3127248"/>
            <a:ext cx="1198245" cy="274320"/>
          </a:xfrm>
          <a:prstGeom prst="roundRect">
            <a:avLst>
              <a:gd name="adj" fmla="val 50000"/>
            </a:avLst>
          </a:prstGeom>
          <a:solidFill>
            <a:srgbClr val="15485A"/>
          </a:solidFill>
          <a:ln w="1270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F2D5A6"/>
                </a:solidFill>
                <a:latin typeface="Calibri"/>
              </a:rPr>
              <a:t>Exaggerated claims</a:t>
            </a:r>
          </a:p>
        </p:txBody>
      </p:sp>
      <p:sp>
        <p:nvSpPr>
          <p:cNvPr id="13" name="TextBox 12"/>
          <p:cNvSpPr txBox="1"/>
          <p:nvPr/>
        </p:nvSpPr>
        <p:spPr>
          <a:xfrm>
            <a:off x="822960" y="5074920"/>
            <a:ext cx="2743200" cy="219456"/>
          </a:xfrm>
          <a:prstGeom prst="rect">
            <a:avLst/>
          </a:prstGeom>
          <a:noFill/>
        </p:spPr>
        <p:txBody>
          <a:bodyPr wrap="square" lIns="0" rIns="0" tIns="0" bIns="0">
            <a:noAutofit/>
          </a:bodyPr>
          <a:lstStyle/>
          <a:p>
            <a:pPr algn="l">
              <a:lnSpc>
                <a:spcPct val="105000"/>
              </a:lnSpc>
            </a:pPr>
            <a:r>
              <a:rPr sz="950" b="1" i="0">
                <a:solidFill>
                  <a:srgbClr val="8FB6BF"/>
                </a:solidFill>
                <a:latin typeface="Calibri"/>
              </a:rPr>
              <a:t>THE TEAM</a:t>
            </a:r>
          </a:p>
        </p:txBody>
      </p:sp>
      <p:sp>
        <p:nvSpPr>
          <p:cNvPr id="14" name="TextBox 13"/>
          <p:cNvSpPr txBox="1"/>
          <p:nvPr/>
        </p:nvSpPr>
        <p:spPr>
          <a:xfrm>
            <a:off x="822960" y="5440680"/>
            <a:ext cx="2560320" cy="274320"/>
          </a:xfrm>
          <a:prstGeom prst="rect">
            <a:avLst/>
          </a:prstGeom>
          <a:noFill/>
        </p:spPr>
        <p:txBody>
          <a:bodyPr wrap="square" lIns="0" rIns="0" tIns="0" bIns="0">
            <a:noAutofit/>
          </a:bodyPr>
          <a:lstStyle/>
          <a:p>
            <a:pPr algn="l">
              <a:lnSpc>
                <a:spcPct val="105000"/>
              </a:lnSpc>
            </a:pPr>
            <a:r>
              <a:rPr sz="1300" b="1" i="0">
                <a:solidFill>
                  <a:srgbClr val="FFFFFF"/>
                </a:solidFill>
                <a:latin typeface="Calibri"/>
              </a:rPr>
              <a:t>Chris Pedretti</a:t>
            </a:r>
          </a:p>
        </p:txBody>
      </p:sp>
      <p:sp>
        <p:nvSpPr>
          <p:cNvPr id="15" name="TextBox 14"/>
          <p:cNvSpPr txBox="1"/>
          <p:nvPr/>
        </p:nvSpPr>
        <p:spPr>
          <a:xfrm>
            <a:off x="822960" y="5733288"/>
            <a:ext cx="2560320" cy="411480"/>
          </a:xfrm>
          <a:prstGeom prst="rect">
            <a:avLst/>
          </a:prstGeom>
          <a:noFill/>
        </p:spPr>
        <p:txBody>
          <a:bodyPr wrap="square" lIns="0" rIns="0" tIns="0" bIns="0">
            <a:noAutofit/>
          </a:bodyPr>
          <a:lstStyle/>
          <a:p>
            <a:pPr algn="l">
              <a:lnSpc>
                <a:spcPct val="105000"/>
              </a:lnSpc>
            </a:pPr>
            <a:r>
              <a:rPr sz="950" b="0" i="0">
                <a:solidFill>
                  <a:srgbClr val="8FB6BF"/>
                </a:solidFill>
                <a:latin typeface="Calibri"/>
              </a:rPr>
              <a:t>Engineering · Classifier · App &amp; Extension</a:t>
            </a:r>
          </a:p>
        </p:txBody>
      </p:sp>
      <p:sp>
        <p:nvSpPr>
          <p:cNvPr id="16" name="TextBox 15"/>
          <p:cNvSpPr txBox="1"/>
          <p:nvPr/>
        </p:nvSpPr>
        <p:spPr>
          <a:xfrm>
            <a:off x="3520440" y="5440680"/>
            <a:ext cx="2560320" cy="274320"/>
          </a:xfrm>
          <a:prstGeom prst="rect">
            <a:avLst/>
          </a:prstGeom>
          <a:noFill/>
        </p:spPr>
        <p:txBody>
          <a:bodyPr wrap="square" lIns="0" rIns="0" tIns="0" bIns="0">
            <a:noAutofit/>
          </a:bodyPr>
          <a:lstStyle/>
          <a:p>
            <a:pPr algn="l">
              <a:lnSpc>
                <a:spcPct val="105000"/>
              </a:lnSpc>
            </a:pPr>
            <a:r>
              <a:rPr sz="1300" b="1" i="0">
                <a:solidFill>
                  <a:srgbClr val="FFFFFF"/>
                </a:solidFill>
                <a:latin typeface="Calibri"/>
              </a:rPr>
              <a:t>Shashank Ashoka</a:t>
            </a:r>
          </a:p>
        </p:txBody>
      </p:sp>
      <p:sp>
        <p:nvSpPr>
          <p:cNvPr id="17" name="TextBox 16"/>
          <p:cNvSpPr txBox="1"/>
          <p:nvPr/>
        </p:nvSpPr>
        <p:spPr>
          <a:xfrm>
            <a:off x="3520440" y="5733288"/>
            <a:ext cx="2560320" cy="411480"/>
          </a:xfrm>
          <a:prstGeom prst="rect">
            <a:avLst/>
          </a:prstGeom>
          <a:noFill/>
        </p:spPr>
        <p:txBody>
          <a:bodyPr wrap="square" lIns="0" rIns="0" tIns="0" bIns="0">
            <a:noAutofit/>
          </a:bodyPr>
          <a:lstStyle/>
          <a:p>
            <a:pPr algn="l">
              <a:lnSpc>
                <a:spcPct val="105000"/>
              </a:lnSpc>
            </a:pPr>
            <a:r>
              <a:rPr sz="950" b="0" i="0">
                <a:solidFill>
                  <a:srgbClr val="8FB6BF"/>
                </a:solidFill>
                <a:latin typeface="Calibri"/>
              </a:rPr>
              <a:t>Architecture · ASR/VLM · Review Layer</a:t>
            </a:r>
          </a:p>
        </p:txBody>
      </p:sp>
      <p:sp>
        <p:nvSpPr>
          <p:cNvPr id="18" name="TextBox 17"/>
          <p:cNvSpPr txBox="1"/>
          <p:nvPr/>
        </p:nvSpPr>
        <p:spPr>
          <a:xfrm>
            <a:off x="6217920" y="5440680"/>
            <a:ext cx="2560320" cy="274320"/>
          </a:xfrm>
          <a:prstGeom prst="rect">
            <a:avLst/>
          </a:prstGeom>
          <a:noFill/>
        </p:spPr>
        <p:txBody>
          <a:bodyPr wrap="square" lIns="0" rIns="0" tIns="0" bIns="0">
            <a:noAutofit/>
          </a:bodyPr>
          <a:lstStyle/>
          <a:p>
            <a:pPr algn="l">
              <a:lnSpc>
                <a:spcPct val="105000"/>
              </a:lnSpc>
            </a:pPr>
            <a:r>
              <a:rPr sz="1300" b="1" i="0">
                <a:solidFill>
                  <a:srgbClr val="FFFFFF"/>
                </a:solidFill>
                <a:latin typeface="Calibri"/>
              </a:rPr>
              <a:t>Ciara Cameron</a:t>
            </a:r>
          </a:p>
        </p:txBody>
      </p:sp>
      <p:sp>
        <p:nvSpPr>
          <p:cNvPr id="19" name="TextBox 18"/>
          <p:cNvSpPr txBox="1"/>
          <p:nvPr/>
        </p:nvSpPr>
        <p:spPr>
          <a:xfrm>
            <a:off x="6217920" y="5733288"/>
            <a:ext cx="2560320" cy="411480"/>
          </a:xfrm>
          <a:prstGeom prst="rect">
            <a:avLst/>
          </a:prstGeom>
          <a:noFill/>
        </p:spPr>
        <p:txBody>
          <a:bodyPr wrap="square" lIns="0" rIns="0" tIns="0" bIns="0">
            <a:noAutofit/>
          </a:bodyPr>
          <a:lstStyle/>
          <a:p>
            <a:pPr algn="l">
              <a:lnSpc>
                <a:spcPct val="105000"/>
              </a:lnSpc>
            </a:pPr>
            <a:r>
              <a:rPr sz="950" b="0" i="0">
                <a:solidFill>
                  <a:srgbClr val="8FB6BF"/>
                </a:solidFill>
                <a:latin typeface="Calibri"/>
              </a:rPr>
              <a:t>Data &amp; Annotation · Hyperopt Tuning</a:t>
            </a:r>
          </a:p>
        </p:txBody>
      </p:sp>
      <p:sp>
        <p:nvSpPr>
          <p:cNvPr id="20" name="TextBox 19"/>
          <p:cNvSpPr txBox="1"/>
          <p:nvPr/>
        </p:nvSpPr>
        <p:spPr>
          <a:xfrm>
            <a:off x="8915400" y="5440680"/>
            <a:ext cx="2560320" cy="274320"/>
          </a:xfrm>
          <a:prstGeom prst="rect">
            <a:avLst/>
          </a:prstGeom>
          <a:noFill/>
        </p:spPr>
        <p:txBody>
          <a:bodyPr wrap="square" lIns="0" rIns="0" tIns="0" bIns="0">
            <a:noAutofit/>
          </a:bodyPr>
          <a:lstStyle/>
          <a:p>
            <a:pPr algn="l">
              <a:lnSpc>
                <a:spcPct val="105000"/>
              </a:lnSpc>
            </a:pPr>
            <a:r>
              <a:rPr sz="1300" b="1" i="0">
                <a:solidFill>
                  <a:srgbClr val="FFFFFF"/>
                </a:solidFill>
                <a:latin typeface="Calibri"/>
              </a:rPr>
              <a:t>Jonathan Kim</a:t>
            </a:r>
          </a:p>
        </p:txBody>
      </p:sp>
      <p:sp>
        <p:nvSpPr>
          <p:cNvPr id="21" name="TextBox 20"/>
          <p:cNvSpPr txBox="1"/>
          <p:nvPr/>
        </p:nvSpPr>
        <p:spPr>
          <a:xfrm>
            <a:off x="8915400" y="5733288"/>
            <a:ext cx="2560320" cy="411480"/>
          </a:xfrm>
          <a:prstGeom prst="rect">
            <a:avLst/>
          </a:prstGeom>
          <a:noFill/>
        </p:spPr>
        <p:txBody>
          <a:bodyPr wrap="square" lIns="0" rIns="0" tIns="0" bIns="0">
            <a:noAutofit/>
          </a:bodyPr>
          <a:lstStyle/>
          <a:p>
            <a:pPr algn="l">
              <a:lnSpc>
                <a:spcPct val="105000"/>
              </a:lnSpc>
            </a:pPr>
            <a:r>
              <a:rPr sz="950" b="0" i="0">
                <a:solidFill>
                  <a:srgbClr val="8FB6BF"/>
                </a:solidFill>
                <a:latin typeface="Calibri"/>
              </a:rPr>
              <a:t>Data Pipeline · Baseline Model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57200"/>
            <a:ext cx="10515600" cy="256032"/>
          </a:xfrm>
          <a:prstGeom prst="rect">
            <a:avLst/>
          </a:prstGeom>
          <a:noFill/>
        </p:spPr>
        <p:txBody>
          <a:bodyPr wrap="square" lIns="0" rIns="0" tIns="0" bIns="0">
            <a:noAutofit/>
          </a:bodyPr>
          <a:lstStyle/>
          <a:p>
            <a:pPr algn="l">
              <a:lnSpc>
                <a:spcPct val="105000"/>
              </a:lnSpc>
            </a:pPr>
            <a:r>
              <a:rPr sz="1000" b="1" i="0">
                <a:solidFill>
                  <a:srgbClr val="1C7293"/>
                </a:solidFill>
                <a:latin typeface="Calibri"/>
              </a:rPr>
              <a:t>AREA 1 · PROBLEM AND USERS</a:t>
            </a:r>
          </a:p>
        </p:txBody>
      </p:sp>
      <p:sp>
        <p:nvSpPr>
          <p:cNvPr id="3" name="TextBox 2"/>
          <p:cNvSpPr txBox="1"/>
          <p:nvPr/>
        </p:nvSpPr>
        <p:spPr>
          <a:xfrm>
            <a:off x="822960" y="749808"/>
            <a:ext cx="10515600" cy="566928"/>
          </a:xfrm>
          <a:prstGeom prst="rect">
            <a:avLst/>
          </a:prstGeom>
          <a:noFill/>
        </p:spPr>
        <p:txBody>
          <a:bodyPr wrap="square" lIns="0" rIns="0" tIns="0" bIns="0">
            <a:noAutofit/>
          </a:bodyPr>
          <a:lstStyle/>
          <a:p>
            <a:pPr algn="l">
              <a:lnSpc>
                <a:spcPct val="105000"/>
              </a:lnSpc>
            </a:pPr>
            <a:r>
              <a:rPr sz="2600" b="1" i="0">
                <a:solidFill>
                  <a:srgbClr val="16323C"/>
                </a:solidFill>
                <a:latin typeface="Cambria"/>
              </a:rPr>
              <a:t>Persuasion you can't see, aimed at the people who pay most for it</a:t>
            </a:r>
          </a:p>
        </p:txBody>
      </p:sp>
      <p:sp>
        <p:nvSpPr>
          <p:cNvPr id="4" name="TextBox 3"/>
          <p:cNvSpPr txBox="1"/>
          <p:nvPr/>
        </p:nvSpPr>
        <p:spPr>
          <a:xfrm>
            <a:off x="822960" y="1481328"/>
            <a:ext cx="5486400" cy="219456"/>
          </a:xfrm>
          <a:prstGeom prst="rect">
            <a:avLst/>
          </a:prstGeom>
          <a:noFill/>
        </p:spPr>
        <p:txBody>
          <a:bodyPr wrap="square" lIns="0" rIns="0" tIns="0" bIns="0">
            <a:noAutofit/>
          </a:bodyPr>
          <a:lstStyle/>
          <a:p>
            <a:pPr algn="l">
              <a:lnSpc>
                <a:spcPct val="105000"/>
              </a:lnSpc>
            </a:pPr>
            <a:r>
              <a:rPr sz="950" b="1" i="0">
                <a:solidFill>
                  <a:srgbClr val="1C7293"/>
                </a:solidFill>
                <a:latin typeface="Calibri"/>
              </a:rPr>
              <a:t>WHO IT'S FOR</a:t>
            </a:r>
          </a:p>
        </p:txBody>
      </p:sp>
      <p:sp>
        <p:nvSpPr>
          <p:cNvPr id="5" name="TextBox 4"/>
          <p:cNvSpPr txBox="1"/>
          <p:nvPr/>
        </p:nvSpPr>
        <p:spPr>
          <a:xfrm>
            <a:off x="822960" y="1737360"/>
            <a:ext cx="5669280" cy="548640"/>
          </a:xfrm>
          <a:prstGeom prst="rect">
            <a:avLst/>
          </a:prstGeom>
          <a:noFill/>
        </p:spPr>
        <p:txBody>
          <a:bodyPr wrap="square" lIns="0" rIns="0" tIns="0" bIns="0">
            <a:noAutofit/>
          </a:bodyPr>
          <a:lstStyle/>
          <a:p>
            <a:pPr algn="l">
              <a:lnSpc>
                <a:spcPct val="112000"/>
              </a:lnSpc>
            </a:pPr>
            <a:r>
              <a:rPr sz="1150" b="0" i="0">
                <a:solidFill>
                  <a:srgbClr val="16323C"/>
                </a:solidFill>
                <a:latin typeface="Calibri"/>
              </a:rPr>
              <a:t>Adults 60 and older — heavily targeted by health, supplement, insurance, and financial ads on Facebook, Instagram, YouTube, and news sites.</a:t>
            </a:r>
          </a:p>
        </p:txBody>
      </p:sp>
      <p:sp>
        <p:nvSpPr>
          <p:cNvPr id="6" name="TextBox 5"/>
          <p:cNvSpPr txBox="1"/>
          <p:nvPr/>
        </p:nvSpPr>
        <p:spPr>
          <a:xfrm>
            <a:off x="822960" y="2468880"/>
            <a:ext cx="1737360" cy="502920"/>
          </a:xfrm>
          <a:prstGeom prst="rect">
            <a:avLst/>
          </a:prstGeom>
          <a:noFill/>
        </p:spPr>
        <p:txBody>
          <a:bodyPr wrap="square" lIns="0" rIns="0" tIns="0" bIns="0">
            <a:noAutofit/>
          </a:bodyPr>
          <a:lstStyle/>
          <a:p>
            <a:pPr algn="l">
              <a:lnSpc>
                <a:spcPct val="105000"/>
              </a:lnSpc>
            </a:pPr>
            <a:r>
              <a:rPr sz="2800" b="1" i="0">
                <a:solidFill>
                  <a:srgbClr val="1C7293"/>
                </a:solidFill>
                <a:latin typeface="Cambria"/>
              </a:rPr>
              <a:t>$2.4B</a:t>
            </a:r>
          </a:p>
        </p:txBody>
      </p:sp>
      <p:sp>
        <p:nvSpPr>
          <p:cNvPr id="7" name="TextBox 6"/>
          <p:cNvSpPr txBox="1"/>
          <p:nvPr/>
        </p:nvSpPr>
        <p:spPr>
          <a:xfrm>
            <a:off x="822960" y="2971800"/>
            <a:ext cx="1737360" cy="457200"/>
          </a:xfrm>
          <a:prstGeom prst="rect">
            <a:avLst/>
          </a:prstGeom>
          <a:noFill/>
        </p:spPr>
        <p:txBody>
          <a:bodyPr wrap="square" lIns="0" rIns="0" tIns="0" bIns="0">
            <a:noAutofit/>
          </a:bodyPr>
          <a:lstStyle/>
          <a:p>
            <a:pPr algn="l">
              <a:lnSpc>
                <a:spcPct val="105000"/>
              </a:lnSpc>
            </a:pPr>
            <a:r>
              <a:rPr sz="950" b="0" i="0">
                <a:solidFill>
                  <a:srgbClr val="5A6E75"/>
                </a:solidFill>
                <a:latin typeface="Calibri"/>
              </a:rPr>
              <a:t>FTC-reported fraud losses, ages 60+, 2024</a:t>
            </a:r>
          </a:p>
        </p:txBody>
      </p:sp>
      <p:sp>
        <p:nvSpPr>
          <p:cNvPr id="8" name="TextBox 7"/>
          <p:cNvSpPr txBox="1"/>
          <p:nvPr/>
        </p:nvSpPr>
        <p:spPr>
          <a:xfrm>
            <a:off x="2834640" y="2468880"/>
            <a:ext cx="2377440" cy="502920"/>
          </a:xfrm>
          <a:prstGeom prst="rect">
            <a:avLst/>
          </a:prstGeom>
          <a:noFill/>
        </p:spPr>
        <p:txBody>
          <a:bodyPr wrap="square" lIns="0" rIns="0" tIns="0" bIns="0">
            <a:noAutofit/>
          </a:bodyPr>
          <a:lstStyle/>
          <a:p>
            <a:pPr algn="l">
              <a:lnSpc>
                <a:spcPct val="105000"/>
              </a:lnSpc>
            </a:pPr>
            <a:r>
              <a:rPr sz="2800" b="1" i="0">
                <a:solidFill>
                  <a:srgbClr val="B97A1F"/>
                </a:solidFill>
                <a:latin typeface="Cambria"/>
              </a:rPr>
              <a:t>4×</a:t>
            </a:r>
          </a:p>
        </p:txBody>
      </p:sp>
      <p:sp>
        <p:nvSpPr>
          <p:cNvPr id="9" name="TextBox 8"/>
          <p:cNvSpPr txBox="1"/>
          <p:nvPr/>
        </p:nvSpPr>
        <p:spPr>
          <a:xfrm>
            <a:off x="2834640" y="2971800"/>
            <a:ext cx="2377440" cy="457200"/>
          </a:xfrm>
          <a:prstGeom prst="rect">
            <a:avLst/>
          </a:prstGeom>
          <a:noFill/>
        </p:spPr>
        <p:txBody>
          <a:bodyPr wrap="square" lIns="0" rIns="0" tIns="0" bIns="0">
            <a:noAutofit/>
          </a:bodyPr>
          <a:lstStyle/>
          <a:p>
            <a:pPr algn="l">
              <a:lnSpc>
                <a:spcPct val="105000"/>
              </a:lnSpc>
            </a:pPr>
            <a:r>
              <a:rPr sz="950" b="0" i="0">
                <a:solidFill>
                  <a:srgbClr val="5A6E75"/>
                </a:solidFill>
                <a:latin typeface="Calibri"/>
              </a:rPr>
              <a:t>growth since 2020 (~$600M) — highest median loss of any age group</a:t>
            </a:r>
          </a:p>
        </p:txBody>
      </p:sp>
      <p:sp>
        <p:nvSpPr>
          <p:cNvPr id="10" name="TextBox 9"/>
          <p:cNvSpPr txBox="1"/>
          <p:nvPr/>
        </p:nvSpPr>
        <p:spPr>
          <a:xfrm>
            <a:off x="822960" y="3657600"/>
            <a:ext cx="5486400" cy="219456"/>
          </a:xfrm>
          <a:prstGeom prst="rect">
            <a:avLst/>
          </a:prstGeom>
          <a:noFill/>
        </p:spPr>
        <p:txBody>
          <a:bodyPr wrap="square" lIns="0" rIns="0" tIns="0" bIns="0">
            <a:noAutofit/>
          </a:bodyPr>
          <a:lstStyle/>
          <a:p>
            <a:pPr algn="l">
              <a:lnSpc>
                <a:spcPct val="105000"/>
              </a:lnSpc>
            </a:pPr>
            <a:r>
              <a:rPr sz="950" b="1" i="0">
                <a:solidFill>
                  <a:srgbClr val="1C7293"/>
                </a:solidFill>
                <a:latin typeface="Calibri"/>
              </a:rPr>
              <a:t>WHAT THEY DID BEFORE ADINSIGHT</a:t>
            </a:r>
          </a:p>
        </p:txBody>
      </p:sp>
      <p:sp>
        <p:nvSpPr>
          <p:cNvPr id="11" name="TextBox 10"/>
          <p:cNvSpPr txBox="1"/>
          <p:nvPr/>
        </p:nvSpPr>
        <p:spPr>
          <a:xfrm>
            <a:off x="822960" y="3913632"/>
            <a:ext cx="5669280" cy="868680"/>
          </a:xfrm>
          <a:prstGeom prst="rect">
            <a:avLst/>
          </a:prstGeom>
          <a:noFill/>
        </p:spPr>
        <p:txBody>
          <a:bodyPr wrap="square" lIns="0" rIns="0" tIns="0" bIns="0">
            <a:noAutofit/>
          </a:bodyPr>
          <a:lstStyle/>
          <a:p>
            <a:pPr algn="l">
              <a:lnSpc>
                <a:spcPct val="112000"/>
              </a:lnSpc>
            </a:pPr>
            <a:r>
              <a:rPr sz="1150" b="0" i="0">
                <a:solidFill>
                  <a:srgbClr val="5A6E75"/>
                </a:solidFill>
                <a:latin typeface="Calibri"/>
              </a:rPr>
              <a:t>Our interviews: ignore it, click through and judge the landing page, Google it, check Amazon or Reddit, ask family. Older users verify socially or buy first and judge after. Manual, inconsistent, and often too late.</a:t>
            </a:r>
          </a:p>
        </p:txBody>
      </p:sp>
      <p:sp>
        <p:nvSpPr>
          <p:cNvPr id="12" name="TextBox 11"/>
          <p:cNvSpPr txBox="1"/>
          <p:nvPr/>
        </p:nvSpPr>
        <p:spPr>
          <a:xfrm>
            <a:off x="822960" y="4983480"/>
            <a:ext cx="5486400" cy="219456"/>
          </a:xfrm>
          <a:prstGeom prst="rect">
            <a:avLst/>
          </a:prstGeom>
          <a:noFill/>
        </p:spPr>
        <p:txBody>
          <a:bodyPr wrap="square" lIns="0" rIns="0" tIns="0" bIns="0">
            <a:noAutofit/>
          </a:bodyPr>
          <a:lstStyle/>
          <a:p>
            <a:pPr algn="l">
              <a:lnSpc>
                <a:spcPct val="105000"/>
              </a:lnSpc>
            </a:pPr>
            <a:r>
              <a:rPr sz="950" b="1" i="0">
                <a:solidFill>
                  <a:srgbClr val="8F5E12"/>
                </a:solidFill>
                <a:latin typeface="Calibri"/>
              </a:rPr>
              <a:t>THE TACTICS WE NAME</a:t>
            </a:r>
          </a:p>
        </p:txBody>
      </p:sp>
      <p:sp>
        <p:nvSpPr>
          <p:cNvPr id="13" name="Rounded Rectangle 12"/>
          <p:cNvSpPr/>
          <p:nvPr/>
        </p:nvSpPr>
        <p:spPr>
          <a:xfrm>
            <a:off x="822960" y="5257800"/>
            <a:ext cx="664845" cy="274320"/>
          </a:xfrm>
          <a:prstGeom prst="roundRect">
            <a:avLst>
              <a:gd name="adj" fmla="val 50000"/>
            </a:avLst>
          </a:prstGeom>
          <a:solidFill>
            <a:srgbClr val="FBF3E3"/>
          </a:solidFill>
          <a:ln w="1270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8F5E12"/>
                </a:solidFill>
                <a:latin typeface="Calibri"/>
              </a:rPr>
              <a:t>Urgency</a:t>
            </a:r>
          </a:p>
        </p:txBody>
      </p:sp>
      <p:sp>
        <p:nvSpPr>
          <p:cNvPr id="14" name="Rounded Rectangle 13"/>
          <p:cNvSpPr/>
          <p:nvPr/>
        </p:nvSpPr>
        <p:spPr>
          <a:xfrm>
            <a:off x="1597533" y="5257800"/>
            <a:ext cx="645795" cy="274320"/>
          </a:xfrm>
          <a:prstGeom prst="roundRect">
            <a:avLst>
              <a:gd name="adj" fmla="val 50000"/>
            </a:avLst>
          </a:prstGeom>
          <a:solidFill>
            <a:srgbClr val="FBF3E3"/>
          </a:solidFill>
          <a:ln w="1270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8F5E12"/>
                </a:solidFill>
                <a:latin typeface="Calibri"/>
              </a:rPr>
              <a:t>Scarcity</a:t>
            </a:r>
          </a:p>
        </p:txBody>
      </p:sp>
      <p:sp>
        <p:nvSpPr>
          <p:cNvPr id="15" name="Rounded Rectangle 14"/>
          <p:cNvSpPr/>
          <p:nvPr/>
        </p:nvSpPr>
        <p:spPr>
          <a:xfrm>
            <a:off x="2353056" y="5257800"/>
            <a:ext cx="579120" cy="274320"/>
          </a:xfrm>
          <a:prstGeom prst="roundRect">
            <a:avLst>
              <a:gd name="adj" fmla="val 50000"/>
            </a:avLst>
          </a:prstGeom>
          <a:solidFill>
            <a:srgbClr val="FBF3E3"/>
          </a:solidFill>
          <a:ln w="1270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8F5E12"/>
                </a:solidFill>
                <a:latin typeface="Calibri"/>
              </a:rPr>
              <a:t>FOMO</a:t>
            </a:r>
          </a:p>
        </p:txBody>
      </p:sp>
      <p:sp>
        <p:nvSpPr>
          <p:cNvPr id="16" name="Rounded Rectangle 15"/>
          <p:cNvSpPr/>
          <p:nvPr/>
        </p:nvSpPr>
        <p:spPr>
          <a:xfrm>
            <a:off x="3041904" y="5257800"/>
            <a:ext cx="874395" cy="274320"/>
          </a:xfrm>
          <a:prstGeom prst="roundRect">
            <a:avLst>
              <a:gd name="adj" fmla="val 50000"/>
            </a:avLst>
          </a:prstGeom>
          <a:solidFill>
            <a:srgbClr val="FBF3E3"/>
          </a:solidFill>
          <a:ln w="1270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8F5E12"/>
                </a:solidFill>
                <a:latin typeface="Calibri"/>
              </a:rPr>
              <a:t>Fear appeals</a:t>
            </a:r>
          </a:p>
        </p:txBody>
      </p:sp>
      <p:sp>
        <p:nvSpPr>
          <p:cNvPr id="17" name="Rounded Rectangle 16"/>
          <p:cNvSpPr/>
          <p:nvPr/>
        </p:nvSpPr>
        <p:spPr>
          <a:xfrm>
            <a:off x="822960" y="5623560"/>
            <a:ext cx="712470" cy="274320"/>
          </a:xfrm>
          <a:prstGeom prst="roundRect">
            <a:avLst>
              <a:gd name="adj" fmla="val 50000"/>
            </a:avLst>
          </a:prstGeom>
          <a:solidFill>
            <a:srgbClr val="FBF3E3"/>
          </a:solidFill>
          <a:ln w="1270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8F5E12"/>
                </a:solidFill>
                <a:latin typeface="Calibri"/>
              </a:rPr>
              <a:t>Authority</a:t>
            </a:r>
          </a:p>
        </p:txBody>
      </p:sp>
      <p:sp>
        <p:nvSpPr>
          <p:cNvPr id="18" name="Rounded Rectangle 17"/>
          <p:cNvSpPr/>
          <p:nvPr/>
        </p:nvSpPr>
        <p:spPr>
          <a:xfrm>
            <a:off x="1645158" y="5623560"/>
            <a:ext cx="826769" cy="274320"/>
          </a:xfrm>
          <a:prstGeom prst="roundRect">
            <a:avLst>
              <a:gd name="adj" fmla="val 50000"/>
            </a:avLst>
          </a:prstGeom>
          <a:solidFill>
            <a:srgbClr val="FBF3E3"/>
          </a:solidFill>
          <a:ln w="1270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8F5E12"/>
                </a:solidFill>
                <a:latin typeface="Calibri"/>
              </a:rPr>
              <a:t>Social proof</a:t>
            </a:r>
          </a:p>
        </p:txBody>
      </p:sp>
      <p:sp>
        <p:nvSpPr>
          <p:cNvPr id="19" name="Rounded Rectangle 18"/>
          <p:cNvSpPr/>
          <p:nvPr/>
        </p:nvSpPr>
        <p:spPr>
          <a:xfrm>
            <a:off x="2581656" y="5623560"/>
            <a:ext cx="1198245" cy="274320"/>
          </a:xfrm>
          <a:prstGeom prst="roundRect">
            <a:avLst>
              <a:gd name="adj" fmla="val 50000"/>
            </a:avLst>
          </a:prstGeom>
          <a:solidFill>
            <a:srgbClr val="FBF3E3"/>
          </a:solidFill>
          <a:ln w="12700">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8F5E12"/>
                </a:solidFill>
                <a:latin typeface="Calibri"/>
              </a:rPr>
              <a:t>Exaggerated claims</a:t>
            </a:r>
          </a:p>
        </p:txBody>
      </p:sp>
      <p:sp>
        <p:nvSpPr>
          <p:cNvPr id="20" name="Rounded Rectangle 19"/>
          <p:cNvSpPr/>
          <p:nvPr/>
        </p:nvSpPr>
        <p:spPr>
          <a:xfrm>
            <a:off x="6903720" y="1481328"/>
            <a:ext cx="4480560" cy="4160520"/>
          </a:xfrm>
          <a:prstGeom prst="roundRect">
            <a:avLst>
              <a:gd name="adj" fmla="val 8000"/>
            </a:avLst>
          </a:prstGeom>
          <a:solidFill>
            <a:srgbClr val="ED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1783080"/>
            <a:ext cx="4142231" cy="219456"/>
          </a:xfrm>
          <a:prstGeom prst="rect">
            <a:avLst/>
          </a:prstGeom>
          <a:noFill/>
        </p:spPr>
        <p:txBody>
          <a:bodyPr wrap="square" lIns="0" rIns="0" tIns="0" bIns="0">
            <a:noAutofit/>
          </a:bodyPr>
          <a:lstStyle/>
          <a:p>
            <a:pPr algn="l">
              <a:lnSpc>
                <a:spcPct val="105000"/>
              </a:lnSpc>
            </a:pPr>
            <a:r>
              <a:rPr sz="950" b="1" i="0">
                <a:solidFill>
                  <a:srgbClr val="1C7293"/>
                </a:solidFill>
                <a:latin typeface="Calibri"/>
              </a:rPr>
              <a:t>WHAT ADINSIGHT DOES INSTEAD</a:t>
            </a:r>
          </a:p>
        </p:txBody>
      </p:sp>
      <p:sp>
        <p:nvSpPr>
          <p:cNvPr id="22" name="Oval 21"/>
          <p:cNvSpPr/>
          <p:nvPr/>
        </p:nvSpPr>
        <p:spPr>
          <a:xfrm>
            <a:off x="7223760" y="2153412"/>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24928" y="2103120"/>
            <a:ext cx="3685032" cy="530352"/>
          </a:xfrm>
          <a:prstGeom prst="rect">
            <a:avLst/>
          </a:prstGeom>
          <a:noFill/>
        </p:spPr>
        <p:txBody>
          <a:bodyPr wrap="square" lIns="0" rIns="0" tIns="0" bIns="0">
            <a:noAutofit/>
          </a:bodyPr>
          <a:lstStyle/>
          <a:p>
            <a:pPr>
              <a:lnSpc>
                <a:spcPct val="112000"/>
              </a:lnSpc>
            </a:pPr>
            <a:r>
              <a:rPr sz="1100" b="1" i="0">
                <a:solidFill>
                  <a:srgbClr val="16323C"/>
                </a:solidFill>
                <a:latin typeface="Calibri"/>
              </a:rPr>
              <a:t>Names the tactic </a:t>
            </a:r>
            <a:r>
              <a:rPr sz="1100" b="0" i="0">
                <a:solidFill>
                  <a:srgbClr val="5A6E75"/>
                </a:solidFill>
                <a:latin typeface="Calibri"/>
              </a:rPr>
              <a:t>— urgency, fake scarcity, authority framing — at the moment the user sees the ad.</a:t>
            </a:r>
          </a:p>
        </p:txBody>
      </p:sp>
      <p:sp>
        <p:nvSpPr>
          <p:cNvPr id="24" name="Oval 23"/>
          <p:cNvSpPr/>
          <p:nvPr/>
        </p:nvSpPr>
        <p:spPr>
          <a:xfrm>
            <a:off x="7223760" y="2839212"/>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24928" y="2788920"/>
            <a:ext cx="3685032" cy="530352"/>
          </a:xfrm>
          <a:prstGeom prst="rect">
            <a:avLst/>
          </a:prstGeom>
          <a:noFill/>
        </p:spPr>
        <p:txBody>
          <a:bodyPr wrap="square" lIns="0" rIns="0" tIns="0" bIns="0">
            <a:noAutofit/>
          </a:bodyPr>
          <a:lstStyle/>
          <a:p>
            <a:pPr>
              <a:lnSpc>
                <a:spcPct val="112000"/>
              </a:lnSpc>
            </a:pPr>
            <a:r>
              <a:rPr sz="1100" b="1" i="0">
                <a:solidFill>
                  <a:srgbClr val="16323C"/>
                </a:solidFill>
                <a:latin typeface="Calibri"/>
              </a:rPr>
              <a:t>Explains in plain language, </a:t>
            </a:r>
            <a:r>
              <a:rPr sz="1100" b="0" i="0">
                <a:solidFill>
                  <a:srgbClr val="5A6E75"/>
                </a:solidFill>
                <a:latin typeface="Calibri"/>
              </a:rPr>
              <a:t>quoting the ad's own words back as evidence.</a:t>
            </a:r>
          </a:p>
        </p:txBody>
      </p:sp>
      <p:sp>
        <p:nvSpPr>
          <p:cNvPr id="26" name="Oval 25"/>
          <p:cNvSpPr/>
          <p:nvPr/>
        </p:nvSpPr>
        <p:spPr>
          <a:xfrm>
            <a:off x="7223760" y="3433572"/>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24928" y="3383280"/>
            <a:ext cx="3685032" cy="530352"/>
          </a:xfrm>
          <a:prstGeom prst="rect">
            <a:avLst/>
          </a:prstGeom>
          <a:noFill/>
        </p:spPr>
        <p:txBody>
          <a:bodyPr wrap="square" lIns="0" rIns="0" tIns="0" bIns="0">
            <a:noAutofit/>
          </a:bodyPr>
          <a:lstStyle/>
          <a:p>
            <a:pPr>
              <a:lnSpc>
                <a:spcPct val="112000"/>
              </a:lnSpc>
            </a:pPr>
            <a:r>
              <a:rPr sz="1100" b="1" i="0">
                <a:solidFill>
                  <a:srgbClr val="16323C"/>
                </a:solidFill>
                <a:latin typeface="Calibri"/>
              </a:rPr>
              <a:t>Educational, not judgmental </a:t>
            </a:r>
            <a:r>
              <a:rPr sz="1100" b="0" i="0">
                <a:solidFill>
                  <a:srgbClr val="5A6E75"/>
                </a:solidFill>
                <a:latin typeface="Calibri"/>
              </a:rPr>
              <a:t>— no "scam / not scam", no legal claims. It gives a reason to slow down.</a:t>
            </a:r>
          </a:p>
        </p:txBody>
      </p:sp>
      <p:sp>
        <p:nvSpPr>
          <p:cNvPr id="28" name="TextBox 27"/>
          <p:cNvSpPr txBox="1"/>
          <p:nvPr/>
        </p:nvSpPr>
        <p:spPr>
          <a:xfrm>
            <a:off x="7223760" y="4206240"/>
            <a:ext cx="3886200" cy="1188720"/>
          </a:xfrm>
          <a:prstGeom prst="rect">
            <a:avLst/>
          </a:prstGeom>
          <a:noFill/>
        </p:spPr>
        <p:txBody>
          <a:bodyPr wrap="square" lIns="0" rIns="0" tIns="0" bIns="0">
            <a:noAutofit/>
          </a:bodyPr>
          <a:lstStyle/>
          <a:p>
            <a:pPr>
              <a:lnSpc>
                <a:spcPct val="115000"/>
              </a:lnSpc>
            </a:pPr>
            <a:r>
              <a:rPr sz="1050" b="1" i="0">
                <a:solidFill>
                  <a:srgbClr val="8F5E12"/>
                </a:solidFill>
                <a:latin typeface="Calibri"/>
              </a:rPr>
              <a:t>Positioning: </a:t>
            </a:r>
            <a:r>
              <a:rPr sz="1050" b="0" i="0">
                <a:solidFill>
                  <a:srgbClr val="8F5E12"/>
                </a:solidFill>
                <a:latin typeface="Calibri"/>
              </a:rPr>
              <a:t>the concern is rarely a false statement — it's the framing. "Only 3 left." "Doctor recommended." "Offer ends tonight."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57200"/>
            <a:ext cx="10515600" cy="256032"/>
          </a:xfrm>
          <a:prstGeom prst="rect">
            <a:avLst/>
          </a:prstGeom>
          <a:noFill/>
        </p:spPr>
        <p:txBody>
          <a:bodyPr wrap="square" lIns="0" rIns="0" tIns="0" bIns="0">
            <a:noAutofit/>
          </a:bodyPr>
          <a:lstStyle/>
          <a:p>
            <a:pPr algn="l">
              <a:lnSpc>
                <a:spcPct val="105000"/>
              </a:lnSpc>
            </a:pPr>
            <a:r>
              <a:rPr sz="1000" b="1" i="0">
                <a:solidFill>
                  <a:srgbClr val="1C7293"/>
                </a:solidFill>
                <a:latin typeface="Calibri"/>
              </a:rPr>
              <a:t>AREA 2 · PRODUCT</a:t>
            </a:r>
          </a:p>
        </p:txBody>
      </p:sp>
      <p:sp>
        <p:nvSpPr>
          <p:cNvPr id="3" name="TextBox 2"/>
          <p:cNvSpPr txBox="1"/>
          <p:nvPr/>
        </p:nvSpPr>
        <p:spPr>
          <a:xfrm>
            <a:off x="822960" y="749808"/>
            <a:ext cx="10515600" cy="566928"/>
          </a:xfrm>
          <a:prstGeom prst="rect">
            <a:avLst/>
          </a:prstGeom>
          <a:noFill/>
        </p:spPr>
        <p:txBody>
          <a:bodyPr wrap="square" lIns="0" rIns="0" tIns="0" bIns="0">
            <a:noAutofit/>
          </a:bodyPr>
          <a:lstStyle/>
          <a:p>
            <a:pPr algn="l">
              <a:lnSpc>
                <a:spcPct val="105000"/>
              </a:lnSpc>
            </a:pPr>
            <a:r>
              <a:rPr sz="2600" b="1" i="0">
                <a:solidFill>
                  <a:srgbClr val="16323C"/>
                </a:solidFill>
                <a:latin typeface="Cambria"/>
              </a:rPr>
              <a:t>One analysis engine, three ways in</a:t>
            </a:r>
          </a:p>
        </p:txBody>
      </p:sp>
      <p:sp>
        <p:nvSpPr>
          <p:cNvPr id="4" name="Oval 3"/>
          <p:cNvSpPr/>
          <p:nvPr/>
        </p:nvSpPr>
        <p:spPr>
          <a:xfrm>
            <a:off x="822960" y="1604772"/>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1554480"/>
            <a:ext cx="5376672" cy="530352"/>
          </a:xfrm>
          <a:prstGeom prst="rect">
            <a:avLst/>
          </a:prstGeom>
          <a:noFill/>
        </p:spPr>
        <p:txBody>
          <a:bodyPr wrap="square" lIns="0" rIns="0" tIns="0" bIns="0">
            <a:noAutofit/>
          </a:bodyPr>
          <a:lstStyle/>
          <a:p>
            <a:pPr>
              <a:lnSpc>
                <a:spcPct val="112000"/>
              </a:lnSpc>
            </a:pPr>
            <a:r>
              <a:rPr sz="1100" b="1" i="0">
                <a:solidFill>
                  <a:srgbClr val="16323C"/>
                </a:solidFill>
                <a:latin typeface="Calibri"/>
              </a:rPr>
              <a:t>Three surfaces, one backend. </a:t>
            </a:r>
            <a:r>
              <a:rPr sz="1100" b="0" i="0">
                <a:solidFill>
                  <a:srgbClr val="5A6E75"/>
                </a:solidFill>
                <a:latin typeface="Calibri"/>
              </a:rPr>
              <a:t>Web app, desktop window, and a Chrome extension all POST to the same Flask /api/analyze.</a:t>
            </a:r>
          </a:p>
        </p:txBody>
      </p:sp>
      <p:sp>
        <p:nvSpPr>
          <p:cNvPr id="6" name="Oval 5"/>
          <p:cNvSpPr/>
          <p:nvPr/>
        </p:nvSpPr>
        <p:spPr>
          <a:xfrm>
            <a:off x="822960" y="2171700"/>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2121408"/>
            <a:ext cx="5376672" cy="530352"/>
          </a:xfrm>
          <a:prstGeom prst="rect">
            <a:avLst/>
          </a:prstGeom>
          <a:noFill/>
        </p:spPr>
        <p:txBody>
          <a:bodyPr wrap="square" lIns="0" rIns="0" tIns="0" bIns="0">
            <a:noAutofit/>
          </a:bodyPr>
          <a:lstStyle/>
          <a:p>
            <a:pPr>
              <a:lnSpc>
                <a:spcPct val="112000"/>
              </a:lnSpc>
            </a:pPr>
            <a:r>
              <a:rPr sz="1100" b="1" i="0">
                <a:solidFill>
                  <a:srgbClr val="16323C"/>
                </a:solidFill>
                <a:latin typeface="Calibri"/>
              </a:rPr>
              <a:t>Read. </a:t>
            </a:r>
            <a:r>
              <a:rPr sz="1100" b="0" i="0">
                <a:solidFill>
                  <a:srgbClr val="5A6E75"/>
                </a:solidFill>
                <a:latin typeface="Calibri"/>
              </a:rPr>
              <a:t>Image ads: VLM transcription (transcription-only prompt — it may not name tactics or judge) with local RapidOCR + spacing repair as offline fallback. The extension shoots 3-frame bursts to catch rotating creatives.</a:t>
            </a:r>
          </a:p>
        </p:txBody>
      </p:sp>
      <p:sp>
        <p:nvSpPr>
          <p:cNvPr id="8" name="Oval 7"/>
          <p:cNvSpPr/>
          <p:nvPr/>
        </p:nvSpPr>
        <p:spPr>
          <a:xfrm>
            <a:off x="822960" y="3040379"/>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990087"/>
            <a:ext cx="5376672" cy="530352"/>
          </a:xfrm>
          <a:prstGeom prst="rect">
            <a:avLst/>
          </a:prstGeom>
          <a:noFill/>
        </p:spPr>
        <p:txBody>
          <a:bodyPr wrap="square" lIns="0" rIns="0" tIns="0" bIns="0">
            <a:noAutofit/>
          </a:bodyPr>
          <a:lstStyle/>
          <a:p>
            <a:pPr>
              <a:lnSpc>
                <a:spcPct val="112000"/>
              </a:lnSpc>
            </a:pPr>
            <a:r>
              <a:rPr sz="1100" b="1" i="0">
                <a:solidFill>
                  <a:srgbClr val="16323C"/>
                </a:solidFill>
                <a:latin typeface="Calibri"/>
              </a:rPr>
              <a:t>Classify. </a:t>
            </a:r>
            <a:r>
              <a:rPr sz="1100" b="0" i="0">
                <a:solidFill>
                  <a:srgbClr val="5A6E75"/>
                </a:solidFill>
                <a:latin typeface="Calibri"/>
              </a:rPr>
              <a:t>Fine-tuned DistilBERT, 8 classes; long ads scored in sliding windows so a tactic at the end still counts.</a:t>
            </a:r>
          </a:p>
        </p:txBody>
      </p:sp>
      <p:sp>
        <p:nvSpPr>
          <p:cNvPr id="10" name="Oval 9"/>
          <p:cNvSpPr/>
          <p:nvPr/>
        </p:nvSpPr>
        <p:spPr>
          <a:xfrm>
            <a:off x="822960" y="3607308"/>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3557015"/>
            <a:ext cx="5376672" cy="530352"/>
          </a:xfrm>
          <a:prstGeom prst="rect">
            <a:avLst/>
          </a:prstGeom>
          <a:noFill/>
        </p:spPr>
        <p:txBody>
          <a:bodyPr wrap="square" lIns="0" rIns="0" tIns="0" bIns="0">
            <a:noAutofit/>
          </a:bodyPr>
          <a:lstStyle/>
          <a:p>
            <a:pPr>
              <a:lnSpc>
                <a:spcPct val="112000"/>
              </a:lnSpc>
            </a:pPr>
            <a:r>
              <a:rPr sz="1100" b="1" i="0">
                <a:solidFill>
                  <a:srgbClr val="16323C"/>
                </a:solidFill>
                <a:latin typeface="Calibri"/>
              </a:rPr>
              <a:t>Explain. </a:t>
            </a:r>
            <a:r>
              <a:rPr sz="1100" b="0" i="0">
                <a:solidFill>
                  <a:srgbClr val="5A6E75"/>
                </a:solidFill>
                <a:latin typeface="Calibri"/>
              </a:rPr>
              <a:t>Every finding is badged with its evidence: model pick (with confidence) or phrase found (traceable to our labeling guidelines). Below 60% confidence with no phrase, it says "not sure" instead of guessing.</a:t>
            </a:r>
          </a:p>
        </p:txBody>
      </p:sp>
      <p:sp>
        <p:nvSpPr>
          <p:cNvPr id="12" name="Oval 11"/>
          <p:cNvSpPr/>
          <p:nvPr/>
        </p:nvSpPr>
        <p:spPr>
          <a:xfrm>
            <a:off x="822960" y="4475988"/>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4425696"/>
            <a:ext cx="5376672" cy="530352"/>
          </a:xfrm>
          <a:prstGeom prst="rect">
            <a:avLst/>
          </a:prstGeom>
          <a:noFill/>
        </p:spPr>
        <p:txBody>
          <a:bodyPr wrap="square" lIns="0" rIns="0" tIns="0" bIns="0">
            <a:noAutofit/>
          </a:bodyPr>
          <a:lstStyle/>
          <a:p>
            <a:pPr>
              <a:lnSpc>
                <a:spcPct val="112000"/>
              </a:lnSpc>
            </a:pPr>
            <a:r>
              <a:rPr sz="1100" b="1" i="0">
                <a:solidFill>
                  <a:srgbClr val="16323C"/>
                </a:solidFill>
                <a:latin typeface="Calibri"/>
              </a:rPr>
              <a:t>Check. </a:t>
            </a:r>
            <a:r>
              <a:rPr sz="1100" b="0" i="0">
                <a:solidFill>
                  <a:srgbClr val="5A6E75"/>
                </a:solidFill>
                <a:latin typeface="Calibri"/>
              </a:rPr>
              <a:t>Review layer: independent-source web search with advertiser-owned domains excluded and affiliate content flagged; falls back to clearly-badged sample data without API keys.</a:t>
            </a:r>
          </a:p>
        </p:txBody>
      </p:sp>
      <p:sp>
        <p:nvSpPr>
          <p:cNvPr id="14" name="TextBox 13"/>
          <p:cNvSpPr txBox="1"/>
          <p:nvPr/>
        </p:nvSpPr>
        <p:spPr>
          <a:xfrm>
            <a:off x="822960" y="5202936"/>
            <a:ext cx="5486400" cy="274320"/>
          </a:xfrm>
          <a:prstGeom prst="rect">
            <a:avLst/>
          </a:prstGeom>
          <a:noFill/>
        </p:spPr>
        <p:txBody>
          <a:bodyPr wrap="square" lIns="0" rIns="0" tIns="0" bIns="0">
            <a:noAutofit/>
          </a:bodyPr>
          <a:lstStyle/>
          <a:p>
            <a:pPr algn="l">
              <a:lnSpc>
                <a:spcPct val="105000"/>
              </a:lnSpc>
            </a:pPr>
            <a:r>
              <a:rPr sz="1000" b="0" i="0">
                <a:solidFill>
                  <a:srgbClr val="5A6E75"/>
                </a:solidFill>
                <a:latin typeface="Calibri"/>
              </a:rPr>
              <a:t>Engineering: 183 automated tests (126 Python + 57 JS) · model ships as 134 MB float16.</a:t>
            </a:r>
          </a:p>
        </p:txBody>
      </p:sp>
      <p:pic>
        <p:nvPicPr>
          <p:cNvPr id="15" name="Picture 14" descr="workflow_ad_explainer.png"/>
          <p:cNvPicPr>
            <a:picLocks noChangeAspect="1"/>
          </p:cNvPicPr>
          <p:nvPr/>
        </p:nvPicPr>
        <p:blipFill>
          <a:blip r:embed="rId2"/>
          <a:stretch>
            <a:fillRect/>
          </a:stretch>
        </p:blipFill>
        <p:spPr>
          <a:xfrm>
            <a:off x="6858000" y="1417320"/>
            <a:ext cx="4457102" cy="4480560"/>
          </a:xfrm>
          <a:prstGeom prst="rect">
            <a:avLst/>
          </a:prstGeom>
          <a:ln w="12700">
            <a:solidFill>
              <a:srgbClr val="D9E4E7"/>
            </a:solidFill>
          </a:ln>
        </p:spPr>
      </p:pic>
      <p:sp>
        <p:nvSpPr>
          <p:cNvPr id="16" name="TextBox 15"/>
          <p:cNvSpPr txBox="1"/>
          <p:nvPr/>
        </p:nvSpPr>
        <p:spPr>
          <a:xfrm>
            <a:off x="6858000" y="5943600"/>
            <a:ext cx="4480560" cy="237744"/>
          </a:xfrm>
          <a:prstGeom prst="rect">
            <a:avLst/>
          </a:prstGeom>
          <a:noFill/>
        </p:spPr>
        <p:txBody>
          <a:bodyPr wrap="square" lIns="0" rIns="0" tIns="0" bIns="0">
            <a:noAutofit/>
          </a:bodyPr>
          <a:lstStyle/>
          <a:p>
            <a:pPr algn="ctr">
              <a:lnSpc>
                <a:spcPct val="105000"/>
              </a:lnSpc>
            </a:pPr>
            <a:r>
              <a:rPr sz="900" b="0" i="0">
                <a:solidFill>
                  <a:srgbClr val="8FA6AD"/>
                </a:solidFill>
                <a:latin typeface="Calibri"/>
              </a:rPr>
              <a:t>System architecture — ad in, plain-language explanation out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57200"/>
            <a:ext cx="10515600" cy="256032"/>
          </a:xfrm>
          <a:prstGeom prst="rect">
            <a:avLst/>
          </a:prstGeom>
          <a:noFill/>
        </p:spPr>
        <p:txBody>
          <a:bodyPr wrap="square" lIns="0" rIns="0" tIns="0" bIns="0">
            <a:noAutofit/>
          </a:bodyPr>
          <a:lstStyle/>
          <a:p>
            <a:pPr algn="l">
              <a:lnSpc>
                <a:spcPct val="105000"/>
              </a:lnSpc>
            </a:pPr>
            <a:r>
              <a:rPr sz="1000" b="1" i="0">
                <a:solidFill>
                  <a:srgbClr val="1C7293"/>
                </a:solidFill>
                <a:latin typeface="Calibri"/>
              </a:rPr>
              <a:t>AREA 2 · PRODUCT — LIVE DEMO</a:t>
            </a:r>
          </a:p>
        </p:txBody>
      </p:sp>
      <p:sp>
        <p:nvSpPr>
          <p:cNvPr id="3" name="TextBox 2"/>
          <p:cNvSpPr txBox="1"/>
          <p:nvPr/>
        </p:nvSpPr>
        <p:spPr>
          <a:xfrm>
            <a:off x="822960" y="749808"/>
            <a:ext cx="10515600" cy="566928"/>
          </a:xfrm>
          <a:prstGeom prst="rect">
            <a:avLst/>
          </a:prstGeom>
          <a:noFill/>
        </p:spPr>
        <p:txBody>
          <a:bodyPr wrap="square" lIns="0" rIns="0" tIns="0" bIns="0">
            <a:noAutofit/>
          </a:bodyPr>
          <a:lstStyle/>
          <a:p>
            <a:pPr algn="l">
              <a:lnSpc>
                <a:spcPct val="105000"/>
              </a:lnSpc>
            </a:pPr>
            <a:r>
              <a:rPr sz="2600" b="1" i="0">
                <a:solidFill>
                  <a:srgbClr val="16323C"/>
                </a:solidFill>
                <a:latin typeface="Cambria"/>
              </a:rPr>
              <a:t>Watch it work</a:t>
            </a:r>
          </a:p>
        </p:txBody>
      </p:sp>
      <p:sp>
        <p:nvSpPr>
          <p:cNvPr id="4" name="Oval 3"/>
          <p:cNvSpPr/>
          <p:nvPr/>
        </p:nvSpPr>
        <p:spPr>
          <a:xfrm>
            <a:off x="822960" y="1600200"/>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i="0">
                <a:solidFill>
                  <a:srgbClr val="FFFFFF"/>
                </a:solidFill>
                <a:latin typeface="Calibri"/>
              </a:rPr>
              <a:t>1</a:t>
            </a:r>
          </a:p>
        </p:txBody>
      </p:sp>
      <p:sp>
        <p:nvSpPr>
          <p:cNvPr id="5" name="TextBox 4"/>
          <p:cNvSpPr txBox="1"/>
          <p:nvPr/>
        </p:nvSpPr>
        <p:spPr>
          <a:xfrm>
            <a:off x="1261872" y="1581912"/>
            <a:ext cx="4480560" cy="1005840"/>
          </a:xfrm>
          <a:prstGeom prst="rect">
            <a:avLst/>
          </a:prstGeom>
          <a:noFill/>
        </p:spPr>
        <p:txBody>
          <a:bodyPr wrap="square" lIns="0" rIns="0" tIns="0" bIns="0">
            <a:noAutofit/>
          </a:bodyPr>
          <a:lstStyle/>
          <a:p>
            <a:pPr>
              <a:lnSpc>
                <a:spcPct val="112000"/>
              </a:lnSpc>
            </a:pPr>
            <a:r>
              <a:rPr sz="1100" b="1" i="0">
                <a:solidFill>
                  <a:srgbClr val="16323C"/>
                </a:solidFill>
                <a:latin typeface="Calibri"/>
              </a:rPr>
              <a:t>Paste a loaded ad. </a:t>
            </a:r>
            <a:r>
              <a:rPr sz="1100" b="0" i="0">
                <a:solidFill>
                  <a:srgbClr val="5A6E75"/>
                </a:solidFill>
                <a:latin typeface="Calibri"/>
              </a:rPr>
              <a:t>"FINAL HOURS: Doctor-recommended MemoryMax Pro… only 7 bottles left" → five tactics, each quoting the ad, plus the banner: "Take your time. Nothing requires a decision today."</a:t>
            </a:r>
          </a:p>
        </p:txBody>
      </p:sp>
      <p:sp>
        <p:nvSpPr>
          <p:cNvPr id="6" name="Oval 5"/>
          <p:cNvSpPr/>
          <p:nvPr/>
        </p:nvSpPr>
        <p:spPr>
          <a:xfrm>
            <a:off x="822960" y="2624328"/>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i="0">
                <a:solidFill>
                  <a:srgbClr val="FFFFFF"/>
                </a:solidFill>
                <a:latin typeface="Calibri"/>
              </a:rPr>
              <a:t>2</a:t>
            </a:r>
          </a:p>
        </p:txBody>
      </p:sp>
      <p:sp>
        <p:nvSpPr>
          <p:cNvPr id="7" name="TextBox 6"/>
          <p:cNvSpPr txBox="1"/>
          <p:nvPr/>
        </p:nvSpPr>
        <p:spPr>
          <a:xfrm>
            <a:off x="1261872" y="2606040"/>
            <a:ext cx="4480560" cy="1005840"/>
          </a:xfrm>
          <a:prstGeom prst="rect">
            <a:avLst/>
          </a:prstGeom>
          <a:noFill/>
        </p:spPr>
        <p:txBody>
          <a:bodyPr wrap="square" lIns="0" rIns="0" tIns="0" bIns="0">
            <a:noAutofit/>
          </a:bodyPr>
          <a:lstStyle/>
          <a:p>
            <a:pPr>
              <a:lnSpc>
                <a:spcPct val="112000"/>
              </a:lnSpc>
            </a:pPr>
            <a:r>
              <a:rPr sz="1100" b="1" i="0">
                <a:solidFill>
                  <a:srgbClr val="16323C"/>
                </a:solidFill>
                <a:latin typeface="Calibri"/>
              </a:rPr>
              <a:t>Upload a screenshot. </a:t>
            </a:r>
            <a:r>
              <a:rPr sz="1100" b="0" i="0">
                <a:solidFill>
                  <a:srgbClr val="5A6E75"/>
                </a:solidFill>
                <a:latin typeface="Calibri"/>
              </a:rPr>
              <a:t>The supplement ad image → "What we read from your image" (OCR ~98% confidence, spacing repaired) → six tactics. A bad scan is visible, never silent.</a:t>
            </a:r>
          </a:p>
        </p:txBody>
      </p:sp>
      <p:sp>
        <p:nvSpPr>
          <p:cNvPr id="8" name="Oval 7"/>
          <p:cNvSpPr/>
          <p:nvPr/>
        </p:nvSpPr>
        <p:spPr>
          <a:xfrm>
            <a:off x="822960" y="3648456"/>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i="0">
                <a:solidFill>
                  <a:srgbClr val="FFFFFF"/>
                </a:solidFill>
                <a:latin typeface="Calibri"/>
              </a:rPr>
              <a:t>3</a:t>
            </a:r>
          </a:p>
        </p:txBody>
      </p:sp>
      <p:sp>
        <p:nvSpPr>
          <p:cNvPr id="9" name="TextBox 8"/>
          <p:cNvSpPr txBox="1"/>
          <p:nvPr/>
        </p:nvSpPr>
        <p:spPr>
          <a:xfrm>
            <a:off x="1261872" y="3630168"/>
            <a:ext cx="4480560" cy="1005840"/>
          </a:xfrm>
          <a:prstGeom prst="rect">
            <a:avLst/>
          </a:prstGeom>
          <a:noFill/>
        </p:spPr>
        <p:txBody>
          <a:bodyPr wrap="square" lIns="0" rIns="0" tIns="0" bIns="0">
            <a:noAutofit/>
          </a:bodyPr>
          <a:lstStyle/>
          <a:p>
            <a:pPr>
              <a:lnSpc>
                <a:spcPct val="112000"/>
              </a:lnSpc>
            </a:pPr>
            <a:r>
              <a:rPr sz="1100" b="1" i="0">
                <a:solidFill>
                  <a:srgbClr val="16323C"/>
                </a:solidFill>
                <a:latin typeface="Calibri"/>
              </a:rPr>
              <a:t>Try to fool it. </a:t>
            </a:r>
            <a:r>
              <a:rPr sz="1100" b="0" i="0">
                <a:solidFill>
                  <a:srgbClr val="5A6E75"/>
                </a:solidFill>
                <a:latin typeface="Calibri"/>
              </a:rPr>
              <a:t>A clean bakery ad → Neutral — no false alarm. (It used to cry "Social Proof, 75.8%" before we fixed the dataset.)</a:t>
            </a:r>
          </a:p>
        </p:txBody>
      </p:sp>
      <p:sp>
        <p:nvSpPr>
          <p:cNvPr id="10" name="Oval 9"/>
          <p:cNvSpPr/>
          <p:nvPr/>
        </p:nvSpPr>
        <p:spPr>
          <a:xfrm>
            <a:off x="822960" y="4672584"/>
            <a:ext cx="292608" cy="29260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i="0">
                <a:solidFill>
                  <a:srgbClr val="FFFFFF"/>
                </a:solidFill>
                <a:latin typeface="Calibri"/>
              </a:rPr>
              <a:t>4</a:t>
            </a:r>
          </a:p>
        </p:txBody>
      </p:sp>
      <p:sp>
        <p:nvSpPr>
          <p:cNvPr id="11" name="TextBox 10"/>
          <p:cNvSpPr txBox="1"/>
          <p:nvPr/>
        </p:nvSpPr>
        <p:spPr>
          <a:xfrm>
            <a:off x="1261872" y="4654296"/>
            <a:ext cx="4480560" cy="1005840"/>
          </a:xfrm>
          <a:prstGeom prst="rect">
            <a:avLst/>
          </a:prstGeom>
          <a:noFill/>
        </p:spPr>
        <p:txBody>
          <a:bodyPr wrap="square" lIns="0" rIns="0" tIns="0" bIns="0">
            <a:noAutofit/>
          </a:bodyPr>
          <a:lstStyle/>
          <a:p>
            <a:pPr>
              <a:lnSpc>
                <a:spcPct val="112000"/>
              </a:lnSpc>
            </a:pPr>
            <a:r>
              <a:rPr sz="1100" b="1" i="0">
                <a:solidFill>
                  <a:srgbClr val="16323C"/>
                </a:solidFill>
                <a:latin typeface="Calibri"/>
              </a:rPr>
              <a:t>Meet it where ads live. </a:t>
            </a:r>
            <a:r>
              <a:rPr sz="1100" b="0" i="0">
                <a:solidFill>
                  <a:srgbClr val="5A6E75"/>
                </a:solidFill>
                <a:latin typeface="Calibri"/>
              </a:rPr>
              <a:t>The Chrome extension overlays a real page: hover an ad, or screenshot-capture a video ad in place.</a:t>
            </a:r>
          </a:p>
        </p:txBody>
      </p:sp>
      <p:sp>
        <p:nvSpPr>
          <p:cNvPr id="12" name="TextBox 11"/>
          <p:cNvSpPr txBox="1"/>
          <p:nvPr/>
        </p:nvSpPr>
        <p:spPr>
          <a:xfrm>
            <a:off x="822960" y="5943600"/>
            <a:ext cx="4572000" cy="274320"/>
          </a:xfrm>
          <a:prstGeom prst="rect">
            <a:avLst/>
          </a:prstGeom>
          <a:noFill/>
        </p:spPr>
        <p:txBody>
          <a:bodyPr wrap="square" lIns="0" rIns="0" tIns="0" bIns="0">
            <a:noAutofit/>
          </a:bodyPr>
          <a:lstStyle/>
          <a:p>
            <a:pPr algn="l">
              <a:lnSpc>
                <a:spcPct val="105000"/>
              </a:lnSpc>
            </a:pPr>
            <a:r>
              <a:rPr sz="950" b="0" i="0">
                <a:solidFill>
                  <a:srgbClr val="8FA6AD"/>
                </a:solidFill>
                <a:latin typeface="Calibri"/>
              </a:rPr>
              <a:t>Backup: recorded run in reports/final/demo.mp4</a:t>
            </a:r>
          </a:p>
        </p:txBody>
      </p:sp>
      <p:pic>
        <p:nvPicPr>
          <p:cNvPr id="13" name="Picture 12" descr="supplement_ad.png"/>
          <p:cNvPicPr>
            <a:picLocks noChangeAspect="1"/>
          </p:cNvPicPr>
          <p:nvPr/>
        </p:nvPicPr>
        <p:blipFill>
          <a:blip r:embed="rId2"/>
          <a:stretch>
            <a:fillRect/>
          </a:stretch>
        </p:blipFill>
        <p:spPr>
          <a:xfrm>
            <a:off x="6172200" y="1463040"/>
            <a:ext cx="5257800" cy="1951228"/>
          </a:xfrm>
          <a:prstGeom prst="rect">
            <a:avLst/>
          </a:prstGeom>
          <a:ln w="12700">
            <a:solidFill>
              <a:srgbClr val="D9E4E7"/>
            </a:solidFill>
          </a:ln>
        </p:spPr>
      </p:pic>
      <p:sp>
        <p:nvSpPr>
          <p:cNvPr id="14" name="TextBox 13"/>
          <p:cNvSpPr txBox="1"/>
          <p:nvPr/>
        </p:nvSpPr>
        <p:spPr>
          <a:xfrm>
            <a:off x="6172200" y="3410712"/>
            <a:ext cx="5257800" cy="219456"/>
          </a:xfrm>
          <a:prstGeom prst="rect">
            <a:avLst/>
          </a:prstGeom>
          <a:noFill/>
        </p:spPr>
        <p:txBody>
          <a:bodyPr wrap="square" lIns="0" rIns="0" tIns="0" bIns="0">
            <a:noAutofit/>
          </a:bodyPr>
          <a:lstStyle/>
          <a:p>
            <a:pPr algn="ctr">
              <a:lnSpc>
                <a:spcPct val="105000"/>
              </a:lnSpc>
            </a:pPr>
            <a:r>
              <a:rPr sz="900" b="0" i="0">
                <a:solidFill>
                  <a:srgbClr val="8FA6AD"/>
                </a:solidFill>
                <a:latin typeface="Calibri"/>
              </a:rPr>
              <a:t>The loaded ad — six tactics</a:t>
            </a:r>
          </a:p>
        </p:txBody>
      </p:sp>
      <p:pic>
        <p:nvPicPr>
          <p:cNvPr id="15" name="Picture 14" descr="bakery_ad.png"/>
          <p:cNvPicPr>
            <a:picLocks noChangeAspect="1"/>
          </p:cNvPicPr>
          <p:nvPr/>
        </p:nvPicPr>
        <p:blipFill>
          <a:blip r:embed="rId3"/>
          <a:stretch>
            <a:fillRect/>
          </a:stretch>
        </p:blipFill>
        <p:spPr>
          <a:xfrm>
            <a:off x="6172200" y="3794760"/>
            <a:ext cx="5257800" cy="1756875"/>
          </a:xfrm>
          <a:prstGeom prst="rect">
            <a:avLst/>
          </a:prstGeom>
          <a:ln w="12700">
            <a:solidFill>
              <a:srgbClr val="D9E4E7"/>
            </a:solidFill>
          </a:ln>
        </p:spPr>
      </p:pic>
      <p:sp>
        <p:nvSpPr>
          <p:cNvPr id="16" name="TextBox 15"/>
          <p:cNvSpPr txBox="1"/>
          <p:nvPr/>
        </p:nvSpPr>
        <p:spPr>
          <a:xfrm>
            <a:off x="6172200" y="5742432"/>
            <a:ext cx="5257800" cy="219456"/>
          </a:xfrm>
          <a:prstGeom prst="rect">
            <a:avLst/>
          </a:prstGeom>
          <a:noFill/>
        </p:spPr>
        <p:txBody>
          <a:bodyPr wrap="square" lIns="0" rIns="0" tIns="0" bIns="0">
            <a:noAutofit/>
          </a:bodyPr>
          <a:lstStyle/>
          <a:p>
            <a:pPr algn="ctr">
              <a:lnSpc>
                <a:spcPct val="105000"/>
              </a:lnSpc>
            </a:pPr>
            <a:r>
              <a:rPr sz="900" b="0" i="0">
                <a:solidFill>
                  <a:srgbClr val="8FA6AD"/>
                </a:solidFill>
                <a:latin typeface="Calibri"/>
              </a:rPr>
              <a:t>The clean ad — Neutral, no false alarm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57200"/>
            <a:ext cx="10515600" cy="256032"/>
          </a:xfrm>
          <a:prstGeom prst="rect">
            <a:avLst/>
          </a:prstGeom>
          <a:noFill/>
        </p:spPr>
        <p:txBody>
          <a:bodyPr wrap="square" lIns="0" rIns="0" tIns="0" bIns="0">
            <a:noAutofit/>
          </a:bodyPr>
          <a:lstStyle/>
          <a:p>
            <a:pPr algn="l">
              <a:lnSpc>
                <a:spcPct val="105000"/>
              </a:lnSpc>
            </a:pPr>
            <a:r>
              <a:rPr sz="1000" b="1" i="0">
                <a:solidFill>
                  <a:srgbClr val="1C7293"/>
                </a:solidFill>
                <a:latin typeface="Calibri"/>
              </a:rPr>
              <a:t>AREA 3 · NLP METHOD AND EVALUATION — DATA</a:t>
            </a:r>
          </a:p>
        </p:txBody>
      </p:sp>
      <p:sp>
        <p:nvSpPr>
          <p:cNvPr id="3" name="TextBox 2"/>
          <p:cNvSpPr txBox="1"/>
          <p:nvPr/>
        </p:nvSpPr>
        <p:spPr>
          <a:xfrm>
            <a:off x="822960" y="749808"/>
            <a:ext cx="10515600" cy="566928"/>
          </a:xfrm>
          <a:prstGeom prst="rect">
            <a:avLst/>
          </a:prstGeom>
          <a:noFill/>
        </p:spPr>
        <p:txBody>
          <a:bodyPr wrap="square" lIns="0" rIns="0" tIns="0" bIns="0">
            <a:noAutofit/>
          </a:bodyPr>
          <a:lstStyle/>
          <a:p>
            <a:pPr algn="l">
              <a:lnSpc>
                <a:spcPct val="105000"/>
              </a:lnSpc>
            </a:pPr>
            <a:r>
              <a:rPr sz="2600" b="1" i="0">
                <a:solidFill>
                  <a:srgbClr val="16323C"/>
                </a:solidFill>
                <a:latin typeface="Cambria"/>
              </a:rPr>
              <a:t>4,374 ads, 8 classes — rebuilt after we caught our model cheating</a:t>
            </a:r>
          </a:p>
        </p:txBody>
      </p:sp>
      <p:sp>
        <p:nvSpPr>
          <p:cNvPr id="4" name="Oval 3"/>
          <p:cNvSpPr/>
          <p:nvPr/>
        </p:nvSpPr>
        <p:spPr>
          <a:xfrm>
            <a:off x="822960" y="1623060"/>
            <a:ext cx="82296" cy="8229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1572768"/>
            <a:ext cx="5193792" cy="530352"/>
          </a:xfrm>
          <a:prstGeom prst="rect">
            <a:avLst/>
          </a:prstGeom>
          <a:noFill/>
        </p:spPr>
        <p:txBody>
          <a:bodyPr wrap="square" lIns="0" rIns="0" tIns="0" bIns="0">
            <a:noAutofit/>
          </a:bodyPr>
          <a:lstStyle/>
          <a:p>
            <a:pPr>
              <a:lnSpc>
                <a:spcPct val="112000"/>
              </a:lnSpc>
            </a:pPr>
            <a:r>
              <a:rPr sz="1100" b="1" i="0">
                <a:solidFill>
                  <a:srgbClr val="16323C"/>
                </a:solidFill>
                <a:latin typeface="Calibri"/>
              </a:rPr>
              <a:t>The shortcut we found: </a:t>
            </a:r>
            <a:r>
              <a:rPr sz="1100" b="0" i="0">
                <a:solidFill>
                  <a:srgbClr val="5A6E75"/>
                </a:solidFill>
                <a:latin typeface="Calibri"/>
              </a:rPr>
              <a:t>in the original 7-class corpus (3,230 ads), "limited stock" appeared in 435 of 449 Scarcity examples (96.9%). The model could pass the test by memorizing one phrase.</a:t>
            </a:r>
          </a:p>
        </p:txBody>
      </p:sp>
      <p:sp>
        <p:nvSpPr>
          <p:cNvPr id="6" name="Oval 5"/>
          <p:cNvSpPr/>
          <p:nvPr/>
        </p:nvSpPr>
        <p:spPr>
          <a:xfrm>
            <a:off x="822960" y="2592324"/>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2542032"/>
            <a:ext cx="5193792" cy="530352"/>
          </a:xfrm>
          <a:prstGeom prst="rect">
            <a:avLst/>
          </a:prstGeom>
          <a:noFill/>
        </p:spPr>
        <p:txBody>
          <a:bodyPr wrap="square" lIns="0" rIns="0" tIns="0" bIns="0">
            <a:noAutofit/>
          </a:bodyPr>
          <a:lstStyle/>
          <a:p>
            <a:pPr>
              <a:lnSpc>
                <a:spcPct val="112000"/>
              </a:lnSpc>
            </a:pPr>
            <a:r>
              <a:rPr sz="1100" b="1" i="0">
                <a:solidFill>
                  <a:srgbClr val="16323C"/>
                </a:solidFill>
                <a:latin typeface="Calibri"/>
              </a:rPr>
              <a:t>The fix: </a:t>
            </a:r>
            <a:r>
              <a:rPr sz="1100" b="0" i="0">
                <a:solidFill>
                  <a:srgbClr val="5A6E75"/>
                </a:solidFill>
                <a:latin typeface="Calibri"/>
              </a:rPr>
              <a:t>merged 857 real e-commerce rows from the Mathur et al. dark-patterns corpus (Scarcity, Urgency, Social Proof) and added 287 Neutral examples so "no tactic" became a possible answer.</a:t>
            </a:r>
          </a:p>
        </p:txBody>
      </p:sp>
      <p:sp>
        <p:nvSpPr>
          <p:cNvPr id="8" name="Oval 7"/>
          <p:cNvSpPr/>
          <p:nvPr/>
        </p:nvSpPr>
        <p:spPr>
          <a:xfrm>
            <a:off x="822960" y="3561588"/>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3511296"/>
            <a:ext cx="5193792" cy="530352"/>
          </a:xfrm>
          <a:prstGeom prst="rect">
            <a:avLst/>
          </a:prstGeom>
          <a:noFill/>
        </p:spPr>
        <p:txBody>
          <a:bodyPr wrap="square" lIns="0" rIns="0" tIns="0" bIns="0">
            <a:noAutofit/>
          </a:bodyPr>
          <a:lstStyle/>
          <a:p>
            <a:pPr>
              <a:lnSpc>
                <a:spcPct val="112000"/>
              </a:lnSpc>
            </a:pPr>
            <a:r>
              <a:rPr sz="1100" b="1" i="0">
                <a:solidFill>
                  <a:srgbClr val="16323C"/>
                </a:solidFill>
                <a:latin typeface="Calibri"/>
              </a:rPr>
              <a:t>Effect: </a:t>
            </a:r>
            <a:r>
              <a:rPr sz="1100" b="0" i="0">
                <a:solidFill>
                  <a:srgbClr val="5A6E75"/>
                </a:solidFill>
                <a:latin typeface="Calibri"/>
              </a:rPr>
              <a:t>top-phrase coverage fell — Scarcity 97.3%→73.4%, Urgency 91.6%→74.0% — forcing the model to learn broader patterns.</a:t>
            </a:r>
          </a:p>
        </p:txBody>
      </p:sp>
      <p:sp>
        <p:nvSpPr>
          <p:cNvPr id="10" name="Oval 9"/>
          <p:cNvSpPr/>
          <p:nvPr/>
        </p:nvSpPr>
        <p:spPr>
          <a:xfrm>
            <a:off x="822960" y="4530852"/>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4480560"/>
            <a:ext cx="5193792" cy="530352"/>
          </a:xfrm>
          <a:prstGeom prst="rect">
            <a:avLst/>
          </a:prstGeom>
          <a:noFill/>
        </p:spPr>
        <p:txBody>
          <a:bodyPr wrap="square" lIns="0" rIns="0" tIns="0" bIns="0">
            <a:noAutofit/>
          </a:bodyPr>
          <a:lstStyle/>
          <a:p>
            <a:pPr>
              <a:lnSpc>
                <a:spcPct val="112000"/>
              </a:lnSpc>
            </a:pPr>
            <a:r>
              <a:rPr sz="1100" b="1" i="0">
                <a:solidFill>
                  <a:srgbClr val="16323C"/>
                </a:solidFill>
                <a:latin typeface="Calibri"/>
              </a:rPr>
              <a:t>Protocol: </a:t>
            </a:r>
            <a:r>
              <a:rPr sz="1100" b="0" i="0">
                <a:solidFill>
                  <a:srgbClr val="5A6E75"/>
                </a:solidFill>
                <a:latin typeface="Calibri"/>
              </a:rPr>
              <a:t>stratified 70/15/15 train/val/test (657 held-out test ads, untouched during tuning); class-weighted cross-entropy for the 4.3× imbalance.</a:t>
            </a:r>
          </a:p>
        </p:txBody>
      </p:sp>
      <p:sp>
        <p:nvSpPr>
          <p:cNvPr id="12" name="TextBox 11"/>
          <p:cNvSpPr txBox="1"/>
          <p:nvPr/>
        </p:nvSpPr>
        <p:spPr>
          <a:xfrm>
            <a:off x="6583680" y="1481328"/>
            <a:ext cx="4782312" cy="219456"/>
          </a:xfrm>
          <a:prstGeom prst="rect">
            <a:avLst/>
          </a:prstGeom>
          <a:noFill/>
        </p:spPr>
        <p:txBody>
          <a:bodyPr wrap="square" lIns="0" rIns="0" tIns="0" bIns="0">
            <a:noAutofit/>
          </a:bodyPr>
          <a:lstStyle/>
          <a:p>
            <a:pPr algn="l">
              <a:lnSpc>
                <a:spcPct val="105000"/>
              </a:lnSpc>
            </a:pPr>
            <a:r>
              <a:rPr sz="950" b="1" i="0">
                <a:solidFill>
                  <a:srgbClr val="1C7293"/>
                </a:solidFill>
                <a:latin typeface="Calibri"/>
              </a:rPr>
              <a:t>CLASS DISTRIBUTION (FINAL CORPUS)</a:t>
            </a:r>
          </a:p>
        </p:txBody>
      </p:sp>
      <p:sp>
        <p:nvSpPr>
          <p:cNvPr id="13" name="TextBox 12"/>
          <p:cNvSpPr txBox="1"/>
          <p:nvPr/>
        </p:nvSpPr>
        <p:spPr>
          <a:xfrm>
            <a:off x="6583680" y="1810512"/>
            <a:ext cx="1234440" cy="237744"/>
          </a:xfrm>
          <a:prstGeom prst="rect">
            <a:avLst/>
          </a:prstGeom>
          <a:noFill/>
        </p:spPr>
        <p:txBody>
          <a:bodyPr wrap="square" lIns="0" rIns="0" tIns="0" bIns="0">
            <a:noAutofit/>
          </a:bodyPr>
          <a:lstStyle/>
          <a:p>
            <a:pPr algn="l">
              <a:lnSpc>
                <a:spcPct val="105000"/>
              </a:lnSpc>
            </a:pPr>
            <a:r>
              <a:rPr sz="1050" b="0" i="0">
                <a:solidFill>
                  <a:srgbClr val="16323C"/>
                </a:solidFill>
                <a:latin typeface="Calibri"/>
              </a:rPr>
              <a:t>Urgency</a:t>
            </a:r>
          </a:p>
        </p:txBody>
      </p:sp>
      <p:sp>
        <p:nvSpPr>
          <p:cNvPr id="14" name="Rounded Rectangle 13"/>
          <p:cNvSpPr/>
          <p:nvPr/>
        </p:nvSpPr>
        <p:spPr>
          <a:xfrm>
            <a:off x="7818120" y="1828800"/>
            <a:ext cx="2834640" cy="201168"/>
          </a:xfrm>
          <a:prstGeom prst="roundRect">
            <a:avLst>
              <a:gd name="adj" fmla="val 35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725912" y="1810512"/>
            <a:ext cx="822960" cy="237744"/>
          </a:xfrm>
          <a:prstGeom prst="rect">
            <a:avLst/>
          </a:prstGeom>
          <a:noFill/>
        </p:spPr>
        <p:txBody>
          <a:bodyPr wrap="square" lIns="0" rIns="0" tIns="0" bIns="0">
            <a:noAutofit/>
          </a:bodyPr>
          <a:lstStyle/>
          <a:p>
            <a:pPr algn="l">
              <a:lnSpc>
                <a:spcPct val="105000"/>
              </a:lnSpc>
            </a:pPr>
            <a:r>
              <a:rPr sz="1050" b="1" i="0">
                <a:solidFill>
                  <a:srgbClr val="16323C"/>
                </a:solidFill>
                <a:latin typeface="Calibri"/>
              </a:rPr>
              <a:t>959</a:t>
            </a:r>
          </a:p>
        </p:txBody>
      </p:sp>
      <p:sp>
        <p:nvSpPr>
          <p:cNvPr id="16" name="TextBox 15"/>
          <p:cNvSpPr txBox="1"/>
          <p:nvPr/>
        </p:nvSpPr>
        <p:spPr>
          <a:xfrm>
            <a:off x="6583680" y="2231136"/>
            <a:ext cx="1234440" cy="237744"/>
          </a:xfrm>
          <a:prstGeom prst="rect">
            <a:avLst/>
          </a:prstGeom>
          <a:noFill/>
        </p:spPr>
        <p:txBody>
          <a:bodyPr wrap="square" lIns="0" rIns="0" tIns="0" bIns="0">
            <a:noAutofit/>
          </a:bodyPr>
          <a:lstStyle/>
          <a:p>
            <a:pPr algn="l">
              <a:lnSpc>
                <a:spcPct val="105000"/>
              </a:lnSpc>
            </a:pPr>
            <a:r>
              <a:rPr sz="1050" b="0" i="0">
                <a:solidFill>
                  <a:srgbClr val="16323C"/>
                </a:solidFill>
                <a:latin typeface="Calibri"/>
              </a:rPr>
              <a:t>Exagg. claims</a:t>
            </a:r>
          </a:p>
        </p:txBody>
      </p:sp>
      <p:sp>
        <p:nvSpPr>
          <p:cNvPr id="17" name="Rounded Rectangle 16"/>
          <p:cNvSpPr/>
          <p:nvPr/>
        </p:nvSpPr>
        <p:spPr>
          <a:xfrm>
            <a:off x="7818120" y="2249424"/>
            <a:ext cx="2675025" cy="201168"/>
          </a:xfrm>
          <a:prstGeom prst="roundRect">
            <a:avLst>
              <a:gd name="adj" fmla="val 35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66297" y="2231136"/>
            <a:ext cx="822960" cy="237744"/>
          </a:xfrm>
          <a:prstGeom prst="rect">
            <a:avLst/>
          </a:prstGeom>
          <a:noFill/>
        </p:spPr>
        <p:txBody>
          <a:bodyPr wrap="square" lIns="0" rIns="0" tIns="0" bIns="0">
            <a:noAutofit/>
          </a:bodyPr>
          <a:lstStyle/>
          <a:p>
            <a:pPr algn="l">
              <a:lnSpc>
                <a:spcPct val="105000"/>
              </a:lnSpc>
            </a:pPr>
            <a:r>
              <a:rPr sz="1050" b="1" i="0">
                <a:solidFill>
                  <a:srgbClr val="16323C"/>
                </a:solidFill>
                <a:latin typeface="Calibri"/>
              </a:rPr>
              <a:t>905</a:t>
            </a:r>
          </a:p>
        </p:txBody>
      </p:sp>
      <p:sp>
        <p:nvSpPr>
          <p:cNvPr id="19" name="TextBox 18"/>
          <p:cNvSpPr txBox="1"/>
          <p:nvPr/>
        </p:nvSpPr>
        <p:spPr>
          <a:xfrm>
            <a:off x="6583680" y="2651760"/>
            <a:ext cx="1234440" cy="237744"/>
          </a:xfrm>
          <a:prstGeom prst="rect">
            <a:avLst/>
          </a:prstGeom>
          <a:noFill/>
        </p:spPr>
        <p:txBody>
          <a:bodyPr wrap="square" lIns="0" rIns="0" tIns="0" bIns="0">
            <a:noAutofit/>
          </a:bodyPr>
          <a:lstStyle/>
          <a:p>
            <a:pPr algn="l">
              <a:lnSpc>
                <a:spcPct val="105000"/>
              </a:lnSpc>
            </a:pPr>
            <a:r>
              <a:rPr sz="1050" b="0" i="0">
                <a:solidFill>
                  <a:srgbClr val="16323C"/>
                </a:solidFill>
                <a:latin typeface="Calibri"/>
              </a:rPr>
              <a:t>Scarcity</a:t>
            </a:r>
          </a:p>
        </p:txBody>
      </p:sp>
      <p:sp>
        <p:nvSpPr>
          <p:cNvPr id="20" name="Rounded Rectangle 19"/>
          <p:cNvSpPr/>
          <p:nvPr/>
        </p:nvSpPr>
        <p:spPr>
          <a:xfrm>
            <a:off x="7818120" y="2670048"/>
            <a:ext cx="2358751" cy="201168"/>
          </a:xfrm>
          <a:prstGeom prst="roundRect">
            <a:avLst>
              <a:gd name="adj" fmla="val 35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50023" y="2651760"/>
            <a:ext cx="822960" cy="237744"/>
          </a:xfrm>
          <a:prstGeom prst="rect">
            <a:avLst/>
          </a:prstGeom>
          <a:noFill/>
        </p:spPr>
        <p:txBody>
          <a:bodyPr wrap="square" lIns="0" rIns="0" tIns="0" bIns="0">
            <a:noAutofit/>
          </a:bodyPr>
          <a:lstStyle/>
          <a:p>
            <a:pPr algn="l">
              <a:lnSpc>
                <a:spcPct val="105000"/>
              </a:lnSpc>
            </a:pPr>
            <a:r>
              <a:rPr sz="1050" b="1" i="0">
                <a:solidFill>
                  <a:srgbClr val="16323C"/>
                </a:solidFill>
                <a:latin typeface="Calibri"/>
              </a:rPr>
              <a:t>798</a:t>
            </a:r>
          </a:p>
        </p:txBody>
      </p:sp>
      <p:sp>
        <p:nvSpPr>
          <p:cNvPr id="22" name="TextBox 21"/>
          <p:cNvSpPr txBox="1"/>
          <p:nvPr/>
        </p:nvSpPr>
        <p:spPr>
          <a:xfrm>
            <a:off x="6583680" y="3072384"/>
            <a:ext cx="1234440" cy="237744"/>
          </a:xfrm>
          <a:prstGeom prst="rect">
            <a:avLst/>
          </a:prstGeom>
          <a:noFill/>
        </p:spPr>
        <p:txBody>
          <a:bodyPr wrap="square" lIns="0" rIns="0" tIns="0" bIns="0">
            <a:noAutofit/>
          </a:bodyPr>
          <a:lstStyle/>
          <a:p>
            <a:pPr algn="l">
              <a:lnSpc>
                <a:spcPct val="105000"/>
              </a:lnSpc>
            </a:pPr>
            <a:r>
              <a:rPr sz="1050" b="0" i="0">
                <a:solidFill>
                  <a:srgbClr val="16323C"/>
                </a:solidFill>
                <a:latin typeface="Calibri"/>
              </a:rPr>
              <a:t>Social proof</a:t>
            </a:r>
          </a:p>
        </p:txBody>
      </p:sp>
      <p:sp>
        <p:nvSpPr>
          <p:cNvPr id="23" name="Rounded Rectangle 22"/>
          <p:cNvSpPr/>
          <p:nvPr/>
        </p:nvSpPr>
        <p:spPr>
          <a:xfrm>
            <a:off x="7818120" y="3090672"/>
            <a:ext cx="1507472" cy="201168"/>
          </a:xfrm>
          <a:prstGeom prst="roundRect">
            <a:avLst>
              <a:gd name="adj" fmla="val 35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98744" y="3072384"/>
            <a:ext cx="822960" cy="237744"/>
          </a:xfrm>
          <a:prstGeom prst="rect">
            <a:avLst/>
          </a:prstGeom>
          <a:noFill/>
        </p:spPr>
        <p:txBody>
          <a:bodyPr wrap="square" lIns="0" rIns="0" tIns="0" bIns="0">
            <a:noAutofit/>
          </a:bodyPr>
          <a:lstStyle/>
          <a:p>
            <a:pPr algn="l">
              <a:lnSpc>
                <a:spcPct val="105000"/>
              </a:lnSpc>
            </a:pPr>
            <a:r>
              <a:rPr sz="1050" b="1" i="0">
                <a:solidFill>
                  <a:srgbClr val="16323C"/>
                </a:solidFill>
                <a:latin typeface="Calibri"/>
              </a:rPr>
              <a:t>510</a:t>
            </a:r>
          </a:p>
        </p:txBody>
      </p:sp>
      <p:sp>
        <p:nvSpPr>
          <p:cNvPr id="25" name="TextBox 24"/>
          <p:cNvSpPr txBox="1"/>
          <p:nvPr/>
        </p:nvSpPr>
        <p:spPr>
          <a:xfrm>
            <a:off x="6583680" y="3493008"/>
            <a:ext cx="1234440" cy="237744"/>
          </a:xfrm>
          <a:prstGeom prst="rect">
            <a:avLst/>
          </a:prstGeom>
          <a:noFill/>
        </p:spPr>
        <p:txBody>
          <a:bodyPr wrap="square" lIns="0" rIns="0" tIns="0" bIns="0">
            <a:noAutofit/>
          </a:bodyPr>
          <a:lstStyle/>
          <a:p>
            <a:pPr algn="l">
              <a:lnSpc>
                <a:spcPct val="105000"/>
              </a:lnSpc>
            </a:pPr>
            <a:r>
              <a:rPr sz="1050" b="0" i="0">
                <a:solidFill>
                  <a:srgbClr val="16323C"/>
                </a:solidFill>
                <a:latin typeface="Calibri"/>
              </a:rPr>
              <a:t>Authority</a:t>
            </a:r>
          </a:p>
        </p:txBody>
      </p:sp>
      <p:sp>
        <p:nvSpPr>
          <p:cNvPr id="26" name="Rounded Rectangle 25"/>
          <p:cNvSpPr/>
          <p:nvPr/>
        </p:nvSpPr>
        <p:spPr>
          <a:xfrm>
            <a:off x="7818120" y="3511296"/>
            <a:ext cx="1149817" cy="201168"/>
          </a:xfrm>
          <a:prstGeom prst="roundRect">
            <a:avLst>
              <a:gd name="adj" fmla="val 35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41089" y="3493008"/>
            <a:ext cx="822960" cy="237744"/>
          </a:xfrm>
          <a:prstGeom prst="rect">
            <a:avLst/>
          </a:prstGeom>
          <a:noFill/>
        </p:spPr>
        <p:txBody>
          <a:bodyPr wrap="square" lIns="0" rIns="0" tIns="0" bIns="0">
            <a:noAutofit/>
          </a:bodyPr>
          <a:lstStyle/>
          <a:p>
            <a:pPr algn="l">
              <a:lnSpc>
                <a:spcPct val="105000"/>
              </a:lnSpc>
            </a:pPr>
            <a:r>
              <a:rPr sz="1050" b="1" i="0">
                <a:solidFill>
                  <a:srgbClr val="16323C"/>
                </a:solidFill>
                <a:latin typeface="Calibri"/>
              </a:rPr>
              <a:t>389</a:t>
            </a:r>
          </a:p>
        </p:txBody>
      </p:sp>
      <p:sp>
        <p:nvSpPr>
          <p:cNvPr id="28" name="TextBox 27"/>
          <p:cNvSpPr txBox="1"/>
          <p:nvPr/>
        </p:nvSpPr>
        <p:spPr>
          <a:xfrm>
            <a:off x="6583680" y="3913632"/>
            <a:ext cx="1234440" cy="237744"/>
          </a:xfrm>
          <a:prstGeom prst="rect">
            <a:avLst/>
          </a:prstGeom>
          <a:noFill/>
        </p:spPr>
        <p:txBody>
          <a:bodyPr wrap="square" lIns="0" rIns="0" tIns="0" bIns="0">
            <a:noAutofit/>
          </a:bodyPr>
          <a:lstStyle/>
          <a:p>
            <a:pPr algn="l">
              <a:lnSpc>
                <a:spcPct val="105000"/>
              </a:lnSpc>
            </a:pPr>
            <a:r>
              <a:rPr sz="1050" b="0" i="0">
                <a:solidFill>
                  <a:srgbClr val="16323C"/>
                </a:solidFill>
                <a:latin typeface="Calibri"/>
              </a:rPr>
              <a:t>Fear appeals</a:t>
            </a:r>
          </a:p>
        </p:txBody>
      </p:sp>
      <p:sp>
        <p:nvSpPr>
          <p:cNvPr id="29" name="Rounded Rectangle 28"/>
          <p:cNvSpPr/>
          <p:nvPr/>
        </p:nvSpPr>
        <p:spPr>
          <a:xfrm>
            <a:off x="7818120" y="3931920"/>
            <a:ext cx="898572" cy="201168"/>
          </a:xfrm>
          <a:prstGeom prst="roundRect">
            <a:avLst>
              <a:gd name="adj" fmla="val 35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89844" y="3913632"/>
            <a:ext cx="822960" cy="237744"/>
          </a:xfrm>
          <a:prstGeom prst="rect">
            <a:avLst/>
          </a:prstGeom>
          <a:noFill/>
        </p:spPr>
        <p:txBody>
          <a:bodyPr wrap="square" lIns="0" rIns="0" tIns="0" bIns="0">
            <a:noAutofit/>
          </a:bodyPr>
          <a:lstStyle/>
          <a:p>
            <a:pPr algn="l">
              <a:lnSpc>
                <a:spcPct val="105000"/>
              </a:lnSpc>
            </a:pPr>
            <a:r>
              <a:rPr sz="1050" b="1" i="0">
                <a:solidFill>
                  <a:srgbClr val="16323C"/>
                </a:solidFill>
                <a:latin typeface="Calibri"/>
              </a:rPr>
              <a:t>304</a:t>
            </a:r>
          </a:p>
        </p:txBody>
      </p:sp>
      <p:sp>
        <p:nvSpPr>
          <p:cNvPr id="31" name="TextBox 30"/>
          <p:cNvSpPr txBox="1"/>
          <p:nvPr/>
        </p:nvSpPr>
        <p:spPr>
          <a:xfrm>
            <a:off x="6583680" y="4334256"/>
            <a:ext cx="1234440" cy="237744"/>
          </a:xfrm>
          <a:prstGeom prst="rect">
            <a:avLst/>
          </a:prstGeom>
          <a:noFill/>
        </p:spPr>
        <p:txBody>
          <a:bodyPr wrap="square" lIns="0" rIns="0" tIns="0" bIns="0">
            <a:noAutofit/>
          </a:bodyPr>
          <a:lstStyle/>
          <a:p>
            <a:pPr algn="l">
              <a:lnSpc>
                <a:spcPct val="105000"/>
              </a:lnSpc>
            </a:pPr>
            <a:r>
              <a:rPr sz="1050" b="0" i="0">
                <a:solidFill>
                  <a:srgbClr val="16323C"/>
                </a:solidFill>
                <a:latin typeface="Calibri"/>
              </a:rPr>
              <a:t>Neutral</a:t>
            </a:r>
          </a:p>
        </p:txBody>
      </p:sp>
      <p:sp>
        <p:nvSpPr>
          <p:cNvPr id="32" name="Rounded Rectangle 31"/>
          <p:cNvSpPr/>
          <p:nvPr/>
        </p:nvSpPr>
        <p:spPr>
          <a:xfrm>
            <a:off x="7818120" y="4352544"/>
            <a:ext cx="848322" cy="201168"/>
          </a:xfrm>
          <a:prstGeom prst="roundRect">
            <a:avLst>
              <a:gd name="adj" fmla="val 35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39594" y="4334256"/>
            <a:ext cx="822960" cy="237744"/>
          </a:xfrm>
          <a:prstGeom prst="rect">
            <a:avLst/>
          </a:prstGeom>
          <a:noFill/>
        </p:spPr>
        <p:txBody>
          <a:bodyPr wrap="square" lIns="0" rIns="0" tIns="0" bIns="0">
            <a:noAutofit/>
          </a:bodyPr>
          <a:lstStyle/>
          <a:p>
            <a:pPr algn="l">
              <a:lnSpc>
                <a:spcPct val="105000"/>
              </a:lnSpc>
            </a:pPr>
            <a:r>
              <a:rPr sz="1050" b="1" i="0">
                <a:solidFill>
                  <a:srgbClr val="16323C"/>
                </a:solidFill>
                <a:latin typeface="Calibri"/>
              </a:rPr>
              <a:t>287</a:t>
            </a:r>
          </a:p>
        </p:txBody>
      </p:sp>
      <p:sp>
        <p:nvSpPr>
          <p:cNvPr id="34" name="TextBox 33"/>
          <p:cNvSpPr txBox="1"/>
          <p:nvPr/>
        </p:nvSpPr>
        <p:spPr>
          <a:xfrm>
            <a:off x="6583680" y="4754880"/>
            <a:ext cx="1234440" cy="237744"/>
          </a:xfrm>
          <a:prstGeom prst="rect">
            <a:avLst/>
          </a:prstGeom>
          <a:noFill/>
        </p:spPr>
        <p:txBody>
          <a:bodyPr wrap="square" lIns="0" rIns="0" tIns="0" bIns="0">
            <a:noAutofit/>
          </a:bodyPr>
          <a:lstStyle/>
          <a:p>
            <a:pPr algn="l">
              <a:lnSpc>
                <a:spcPct val="105000"/>
              </a:lnSpc>
            </a:pPr>
            <a:r>
              <a:rPr sz="1050" b="0" i="0">
                <a:solidFill>
                  <a:srgbClr val="16323C"/>
                </a:solidFill>
                <a:latin typeface="Calibri"/>
              </a:rPr>
              <a:t>FOMO</a:t>
            </a:r>
          </a:p>
        </p:txBody>
      </p:sp>
      <p:sp>
        <p:nvSpPr>
          <p:cNvPr id="35" name="Rounded Rectangle 34"/>
          <p:cNvSpPr/>
          <p:nvPr/>
        </p:nvSpPr>
        <p:spPr>
          <a:xfrm>
            <a:off x="7818120" y="4773168"/>
            <a:ext cx="656194" cy="201168"/>
          </a:xfrm>
          <a:prstGeom prst="roundRect">
            <a:avLst>
              <a:gd name="adj" fmla="val 35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47466" y="4754880"/>
            <a:ext cx="822960" cy="237744"/>
          </a:xfrm>
          <a:prstGeom prst="rect">
            <a:avLst/>
          </a:prstGeom>
          <a:noFill/>
        </p:spPr>
        <p:txBody>
          <a:bodyPr wrap="square" lIns="0" rIns="0" tIns="0" bIns="0">
            <a:noAutofit/>
          </a:bodyPr>
          <a:lstStyle/>
          <a:p>
            <a:pPr algn="l">
              <a:lnSpc>
                <a:spcPct val="105000"/>
              </a:lnSpc>
            </a:pPr>
            <a:r>
              <a:rPr sz="1050" b="1" i="0">
                <a:solidFill>
                  <a:srgbClr val="16323C"/>
                </a:solidFill>
                <a:latin typeface="Calibri"/>
              </a:rPr>
              <a:t>222</a:t>
            </a:r>
          </a:p>
        </p:txBody>
      </p:sp>
      <p:sp>
        <p:nvSpPr>
          <p:cNvPr id="37" name="TextBox 36"/>
          <p:cNvSpPr txBox="1"/>
          <p:nvPr/>
        </p:nvSpPr>
        <p:spPr>
          <a:xfrm>
            <a:off x="6583680" y="5212079"/>
            <a:ext cx="4572000" cy="219456"/>
          </a:xfrm>
          <a:prstGeom prst="rect">
            <a:avLst/>
          </a:prstGeom>
          <a:noFill/>
        </p:spPr>
        <p:txBody>
          <a:bodyPr wrap="square" lIns="0" rIns="0" tIns="0" bIns="0">
            <a:noAutofit/>
          </a:bodyPr>
          <a:lstStyle/>
          <a:p>
            <a:pPr algn="l">
              <a:lnSpc>
                <a:spcPct val="105000"/>
              </a:lnSpc>
            </a:pPr>
            <a:r>
              <a:rPr sz="900" b="0" i="0">
                <a:solidFill>
                  <a:srgbClr val="8FA6AD"/>
                </a:solidFill>
                <a:latin typeface="Calibri"/>
              </a:rPr>
              <a:t>Neutral (amber) is new — added with the dark-patterns merge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57200"/>
            <a:ext cx="10515600" cy="256032"/>
          </a:xfrm>
          <a:prstGeom prst="rect">
            <a:avLst/>
          </a:prstGeom>
          <a:noFill/>
        </p:spPr>
        <p:txBody>
          <a:bodyPr wrap="square" lIns="0" rIns="0" tIns="0" bIns="0">
            <a:noAutofit/>
          </a:bodyPr>
          <a:lstStyle/>
          <a:p>
            <a:pPr algn="l">
              <a:lnSpc>
                <a:spcPct val="105000"/>
              </a:lnSpc>
            </a:pPr>
            <a:r>
              <a:rPr sz="1000" b="1" i="0">
                <a:solidFill>
                  <a:srgbClr val="1C7293"/>
                </a:solidFill>
                <a:latin typeface="Calibri"/>
              </a:rPr>
              <a:t>AREA 3 · NLP METHOD AND EVALUATION — MODEL</a:t>
            </a:r>
          </a:p>
        </p:txBody>
      </p:sp>
      <p:sp>
        <p:nvSpPr>
          <p:cNvPr id="3" name="TextBox 2"/>
          <p:cNvSpPr txBox="1"/>
          <p:nvPr/>
        </p:nvSpPr>
        <p:spPr>
          <a:xfrm>
            <a:off x="822960" y="749808"/>
            <a:ext cx="10515600" cy="566928"/>
          </a:xfrm>
          <a:prstGeom prst="rect">
            <a:avLst/>
          </a:prstGeom>
          <a:noFill/>
        </p:spPr>
        <p:txBody>
          <a:bodyPr wrap="square" lIns="0" rIns="0" tIns="0" bIns="0">
            <a:noAutofit/>
          </a:bodyPr>
          <a:lstStyle/>
          <a:p>
            <a:pPr algn="l">
              <a:lnSpc>
                <a:spcPct val="105000"/>
              </a:lnSpc>
            </a:pPr>
            <a:r>
              <a:rPr sz="2600" b="1" i="0">
                <a:solidFill>
                  <a:srgbClr val="16323C"/>
                </a:solidFill>
                <a:latin typeface="Cambria"/>
              </a:rPr>
              <a:t>Fine-tuned DistilBERT, tuned with Hyperopt, shipped small</a:t>
            </a:r>
          </a:p>
        </p:txBody>
      </p:sp>
      <p:sp>
        <p:nvSpPr>
          <p:cNvPr id="4" name="Rounded Rectangle 3"/>
          <p:cNvSpPr/>
          <p:nvPr/>
        </p:nvSpPr>
        <p:spPr>
          <a:xfrm>
            <a:off x="822960" y="1554480"/>
            <a:ext cx="3474720" cy="3063240"/>
          </a:xfrm>
          <a:prstGeom prst="roundRect">
            <a:avLst>
              <a:gd name="adj" fmla="val 8000"/>
            </a:avLst>
          </a:prstGeom>
          <a:solidFill>
            <a:srgbClr val="ED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828800"/>
            <a:ext cx="2926080" cy="219456"/>
          </a:xfrm>
          <a:prstGeom prst="rect">
            <a:avLst/>
          </a:prstGeom>
          <a:noFill/>
        </p:spPr>
        <p:txBody>
          <a:bodyPr wrap="square" lIns="0" rIns="0" tIns="0" bIns="0">
            <a:noAutofit/>
          </a:bodyPr>
          <a:lstStyle/>
          <a:p>
            <a:pPr algn="l">
              <a:lnSpc>
                <a:spcPct val="105000"/>
              </a:lnSpc>
            </a:pPr>
            <a:r>
              <a:rPr sz="950" b="1" i="0">
                <a:solidFill>
                  <a:srgbClr val="1C7293"/>
                </a:solidFill>
                <a:latin typeface="Calibri"/>
              </a:rPr>
              <a:t>MODEL</a:t>
            </a:r>
          </a:p>
        </p:txBody>
      </p:sp>
      <p:sp>
        <p:nvSpPr>
          <p:cNvPr id="6" name="TextBox 5"/>
          <p:cNvSpPr txBox="1"/>
          <p:nvPr/>
        </p:nvSpPr>
        <p:spPr>
          <a:xfrm>
            <a:off x="1097280" y="2121408"/>
            <a:ext cx="2926080" cy="2377440"/>
          </a:xfrm>
          <a:prstGeom prst="rect">
            <a:avLst/>
          </a:prstGeom>
          <a:noFill/>
        </p:spPr>
        <p:txBody>
          <a:bodyPr wrap="square" lIns="0" rIns="0" tIns="0" bIns="0">
            <a:noAutofit/>
          </a:bodyPr>
          <a:lstStyle/>
          <a:p>
            <a:pPr>
              <a:lnSpc>
                <a:spcPct val="112000"/>
              </a:lnSpc>
              <a:spcAft>
                <a:spcPts val="700"/>
              </a:spcAft>
            </a:pPr>
            <a:r>
              <a:rPr sz="1050" b="1" i="0">
                <a:solidFill>
                  <a:srgbClr val="16323C"/>
                </a:solidFill>
                <a:latin typeface="Calibri"/>
              </a:rPr>
              <a:t>distilbert-base-uncased</a:t>
            </a:r>
            <a:r>
              <a:rPr sz="1050" b="0" i="0">
                <a:solidFill>
                  <a:srgbClr val="16323C"/>
                </a:solidFill>
                <a:latin typeface="Calibri"/>
              </a:rPr>
              <a:t>, fine-tuned for 8-way classification.</a:t>
            </a:r>
          </a:p>
          <a:p>
            <a:pPr>
              <a:lnSpc>
                <a:spcPct val="112000"/>
              </a:lnSpc>
              <a:spcAft>
                <a:spcPts val="700"/>
              </a:spcAft>
            </a:pPr>
            <a:r>
              <a:rPr sz="1050" b="0" i="0">
                <a:solidFill>
                  <a:srgbClr val="5A6E75"/>
                </a:solidFill>
                <a:latin typeface="Calibri"/>
              </a:rPr>
              <a:t>128-token training window; longer ads scored in overlapping sliding windows with per-class max-pooling — a tactic in an ad's closing seconds still counts.</a:t>
            </a:r>
          </a:p>
          <a:p>
            <a:pPr>
              <a:lnSpc>
                <a:spcPct val="112000"/>
              </a:lnSpc>
              <a:spcAft>
                <a:spcPts val="700"/>
              </a:spcAft>
            </a:pPr>
            <a:r>
              <a:rPr sz="1050" b="1" i="0">
                <a:solidFill>
                  <a:srgbClr val="16323C"/>
                </a:solidFill>
                <a:latin typeface="Calibri"/>
              </a:rPr>
              <a:t>Metric: macro F1</a:t>
            </a:r>
            <a:r>
              <a:rPr sz="1050" b="0" i="0">
                <a:solidFill>
                  <a:srgbClr val="16323C"/>
                </a:solidFill>
                <a:latin typeface="Calibri"/>
              </a:rPr>
              <a:t> — with a 4.3× class imbalance, accuracy would hide weak minority-class performance; macro F1 weights all 8 classes equally.</a:t>
            </a:r>
          </a:p>
        </p:txBody>
      </p:sp>
      <p:sp>
        <p:nvSpPr>
          <p:cNvPr id="7" name="Rounded Rectangle 6"/>
          <p:cNvSpPr/>
          <p:nvPr/>
        </p:nvSpPr>
        <p:spPr>
          <a:xfrm>
            <a:off x="4498848" y="1554480"/>
            <a:ext cx="3474720" cy="3063240"/>
          </a:xfrm>
          <a:prstGeom prst="roundRect">
            <a:avLst>
              <a:gd name="adj" fmla="val 8000"/>
            </a:avLst>
          </a:prstGeom>
          <a:solidFill>
            <a:srgbClr val="ED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73168" y="1828800"/>
            <a:ext cx="2926080" cy="219456"/>
          </a:xfrm>
          <a:prstGeom prst="rect">
            <a:avLst/>
          </a:prstGeom>
          <a:noFill/>
        </p:spPr>
        <p:txBody>
          <a:bodyPr wrap="square" lIns="0" rIns="0" tIns="0" bIns="0">
            <a:noAutofit/>
          </a:bodyPr>
          <a:lstStyle/>
          <a:p>
            <a:pPr algn="l">
              <a:lnSpc>
                <a:spcPct val="105000"/>
              </a:lnSpc>
            </a:pPr>
            <a:r>
              <a:rPr sz="950" b="1" i="0">
                <a:solidFill>
                  <a:srgbClr val="1C7293"/>
                </a:solidFill>
                <a:latin typeface="Calibri"/>
              </a:rPr>
              <a:t>HYPERPARAMETER SEARCH</a:t>
            </a:r>
          </a:p>
        </p:txBody>
      </p:sp>
      <p:sp>
        <p:nvSpPr>
          <p:cNvPr id="9" name="TextBox 8"/>
          <p:cNvSpPr txBox="1"/>
          <p:nvPr/>
        </p:nvSpPr>
        <p:spPr>
          <a:xfrm>
            <a:off x="4773168" y="2121408"/>
            <a:ext cx="2926080" cy="2377440"/>
          </a:xfrm>
          <a:prstGeom prst="rect">
            <a:avLst/>
          </a:prstGeom>
          <a:noFill/>
        </p:spPr>
        <p:txBody>
          <a:bodyPr wrap="square" lIns="0" rIns="0" tIns="0" bIns="0">
            <a:noAutofit/>
          </a:bodyPr>
          <a:lstStyle/>
          <a:p>
            <a:pPr>
              <a:lnSpc>
                <a:spcPct val="112000"/>
              </a:lnSpc>
              <a:spcAft>
                <a:spcPts val="700"/>
              </a:spcAft>
            </a:pPr>
            <a:r>
              <a:rPr sz="1050" b="0" i="0">
                <a:solidFill>
                  <a:srgbClr val="5A6E75"/>
                </a:solidFill>
                <a:latin typeface="Calibri"/>
              </a:rPr>
              <a:t>Hyperopt TPE over lr {1e-5…5e-5} × batch {8, 16} × epochs {2–4} × weight decay {0, 0.01, 0.05} — a 72-config space, 3 trials evaluated on validation macro F1.</a:t>
            </a:r>
          </a:p>
          <a:p>
            <a:pPr>
              <a:lnSpc>
                <a:spcPct val="112000"/>
              </a:lnSpc>
              <a:spcAft>
                <a:spcPts val="700"/>
              </a:spcAft>
            </a:pPr>
            <a:r>
              <a:rPr sz="1050" b="1" i="0">
                <a:solidFill>
                  <a:srgbClr val="16323C"/>
                </a:solidFill>
                <a:latin typeface="Calibri"/>
              </a:rPr>
              <a:t>Winner:</a:t>
            </a:r>
            <a:r>
              <a:rPr sz="1050" b="0" i="0">
                <a:solidFill>
                  <a:srgbClr val="16323C"/>
                </a:solidFill>
                <a:latin typeface="Calibri"/>
              </a:rPr>
              <a:t> lr 5e-5 · batch 16 · 3 epochs · wd 0.0</a:t>
            </a:r>
          </a:p>
          <a:p>
            <a:pPr>
              <a:lnSpc>
                <a:spcPct val="112000"/>
              </a:lnSpc>
              <a:spcAft>
                <a:spcPts val="700"/>
              </a:spcAft>
            </a:pPr>
            <a:r>
              <a:rPr sz="1050" b="0" i="0">
                <a:solidFill>
                  <a:srgbClr val="5A6E75"/>
                </a:solidFill>
                <a:latin typeface="Calibri"/>
              </a:rPr>
              <a:t>Best 0.886 vs worst trial 0.788 val macro F1, then retrained on the final corpus (val macro F1 0.928).</a:t>
            </a:r>
          </a:p>
        </p:txBody>
      </p:sp>
      <p:sp>
        <p:nvSpPr>
          <p:cNvPr id="10" name="Rounded Rectangle 9"/>
          <p:cNvSpPr/>
          <p:nvPr/>
        </p:nvSpPr>
        <p:spPr>
          <a:xfrm>
            <a:off x="8174736" y="1554480"/>
            <a:ext cx="3474720" cy="3063240"/>
          </a:xfrm>
          <a:prstGeom prst="roundRect">
            <a:avLst>
              <a:gd name="adj" fmla="val 8000"/>
            </a:avLst>
          </a:prstGeom>
          <a:solidFill>
            <a:srgbClr val="ED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49056" y="1828800"/>
            <a:ext cx="2916935" cy="219456"/>
          </a:xfrm>
          <a:prstGeom prst="rect">
            <a:avLst/>
          </a:prstGeom>
          <a:noFill/>
        </p:spPr>
        <p:txBody>
          <a:bodyPr wrap="square" lIns="0" rIns="0" tIns="0" bIns="0">
            <a:noAutofit/>
          </a:bodyPr>
          <a:lstStyle/>
          <a:p>
            <a:pPr algn="l">
              <a:lnSpc>
                <a:spcPct val="105000"/>
              </a:lnSpc>
            </a:pPr>
            <a:r>
              <a:rPr sz="950" b="1" i="0">
                <a:solidFill>
                  <a:srgbClr val="1C7293"/>
                </a:solidFill>
                <a:latin typeface="Calibri"/>
              </a:rPr>
              <a:t>SHIPPING IT</a:t>
            </a:r>
          </a:p>
        </p:txBody>
      </p:sp>
      <p:sp>
        <p:nvSpPr>
          <p:cNvPr id="12" name="TextBox 11"/>
          <p:cNvSpPr txBox="1"/>
          <p:nvPr/>
        </p:nvSpPr>
        <p:spPr>
          <a:xfrm>
            <a:off x="8449056" y="2121408"/>
            <a:ext cx="2926080" cy="2377440"/>
          </a:xfrm>
          <a:prstGeom prst="rect">
            <a:avLst/>
          </a:prstGeom>
          <a:noFill/>
        </p:spPr>
        <p:txBody>
          <a:bodyPr wrap="square" lIns="0" rIns="0" tIns="0" bIns="0">
            <a:noAutofit/>
          </a:bodyPr>
          <a:lstStyle/>
          <a:p>
            <a:pPr>
              <a:lnSpc>
                <a:spcPct val="112000"/>
              </a:lnSpc>
              <a:spcAft>
                <a:spcPts val="700"/>
              </a:spcAft>
            </a:pPr>
            <a:r>
              <a:rPr sz="1050" b="1" i="0">
                <a:solidFill>
                  <a:srgbClr val="16323C"/>
                </a:solidFill>
                <a:latin typeface="Calibri"/>
              </a:rPr>
              <a:t>float32 → float16:</a:t>
            </a:r>
            <a:r>
              <a:rPr sz="1050" b="0" i="0">
                <a:solidFill>
                  <a:srgbClr val="16323C"/>
                </a:solidFill>
                <a:latin typeface="Calibri"/>
              </a:rPr>
              <a:t> 268 MB → 134 MB, with zero changed predictions on the held-out check.</a:t>
            </a:r>
          </a:p>
          <a:p>
            <a:pPr>
              <a:lnSpc>
                <a:spcPct val="112000"/>
              </a:lnSpc>
              <a:spcAft>
                <a:spcPts val="700"/>
              </a:spcAft>
            </a:pPr>
            <a:r>
              <a:rPr sz="1050" b="0" i="0">
                <a:solidFill>
                  <a:srgbClr val="5A6E75"/>
                </a:solidFill>
                <a:latin typeface="Calibri"/>
              </a:rPr>
              <a:t>Runs on CPU in ~1s per ad — no GPU anywhere in the demo.</a:t>
            </a:r>
          </a:p>
          <a:p>
            <a:pPr>
              <a:lnSpc>
                <a:spcPct val="112000"/>
              </a:lnSpc>
              <a:spcAft>
                <a:spcPts val="700"/>
              </a:spcAft>
            </a:pPr>
            <a:r>
              <a:rPr sz="1050" b="0" i="0">
                <a:solidFill>
                  <a:srgbClr val="5A6E75"/>
                </a:solidFill>
                <a:latin typeface="Calibri"/>
              </a:rPr>
              <a:t>Tokenizer and split logic shared between training and the app — what we evaluate is what we serve.</a:t>
            </a:r>
          </a:p>
        </p:txBody>
      </p:sp>
      <p:sp>
        <p:nvSpPr>
          <p:cNvPr id="13" name="Rounded Rectangle 12"/>
          <p:cNvSpPr/>
          <p:nvPr/>
        </p:nvSpPr>
        <p:spPr>
          <a:xfrm>
            <a:off x="822960" y="5029200"/>
            <a:ext cx="10543032" cy="1005840"/>
          </a:xfrm>
          <a:prstGeom prst="roundRect">
            <a:avLst>
              <a:gd name="adj" fmla="val 8000"/>
            </a:avLst>
          </a:prstGeom>
          <a:solidFill>
            <a:srgbClr val="FB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257800"/>
            <a:ext cx="9966960" cy="640080"/>
          </a:xfrm>
          <a:prstGeom prst="rect">
            <a:avLst/>
          </a:prstGeom>
          <a:noFill/>
        </p:spPr>
        <p:txBody>
          <a:bodyPr wrap="square" lIns="0" rIns="0" tIns="0" bIns="0">
            <a:noAutofit/>
          </a:bodyPr>
          <a:lstStyle/>
          <a:p>
            <a:pPr>
              <a:lnSpc>
                <a:spcPct val="115000"/>
              </a:lnSpc>
            </a:pPr>
            <a:r>
              <a:rPr sz="1050" b="1" i="0">
                <a:solidFill>
                  <a:srgbClr val="8F5E12"/>
                </a:solidFill>
                <a:latin typeface="Calibri"/>
              </a:rPr>
              <a:t>Reproducibility: </a:t>
            </a:r>
            <a:r>
              <a:rPr sz="1050" b="0" i="0">
                <a:solidFill>
                  <a:srgbClr val="16323C"/>
                </a:solidFill>
                <a:latin typeface="Calibri"/>
              </a:rPr>
              <a:t>the winning configuration and trial table are committed with the repo (best_parameters.txt · hyperopt_trials.csv), and the shipped checkpoint was re-evaluated end-to-end on the held-out split while preparing this talk — the reported numbers reproduced exactly.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57200"/>
            <a:ext cx="10515600" cy="256032"/>
          </a:xfrm>
          <a:prstGeom prst="rect">
            <a:avLst/>
          </a:prstGeom>
          <a:noFill/>
        </p:spPr>
        <p:txBody>
          <a:bodyPr wrap="square" lIns="0" rIns="0" tIns="0" bIns="0">
            <a:noAutofit/>
          </a:bodyPr>
          <a:lstStyle/>
          <a:p>
            <a:pPr algn="l">
              <a:lnSpc>
                <a:spcPct val="105000"/>
              </a:lnSpc>
            </a:pPr>
            <a:r>
              <a:rPr sz="1000" b="1" i="0">
                <a:solidFill>
                  <a:srgbClr val="1C7293"/>
                </a:solidFill>
                <a:latin typeface="Calibri"/>
              </a:rPr>
              <a:t>AREA 3 · NLP METHOD AND EVALUATION — RESULTS</a:t>
            </a:r>
          </a:p>
        </p:txBody>
      </p:sp>
      <p:sp>
        <p:nvSpPr>
          <p:cNvPr id="3" name="TextBox 2"/>
          <p:cNvSpPr txBox="1"/>
          <p:nvPr/>
        </p:nvSpPr>
        <p:spPr>
          <a:xfrm>
            <a:off x="822960" y="749808"/>
            <a:ext cx="10515600" cy="566928"/>
          </a:xfrm>
          <a:prstGeom prst="rect">
            <a:avLst/>
          </a:prstGeom>
          <a:noFill/>
        </p:spPr>
        <p:txBody>
          <a:bodyPr wrap="square" lIns="0" rIns="0" tIns="0" bIns="0">
            <a:noAutofit/>
          </a:bodyPr>
          <a:lstStyle/>
          <a:p>
            <a:pPr algn="l">
              <a:lnSpc>
                <a:spcPct val="105000"/>
              </a:lnSpc>
            </a:pPr>
            <a:r>
              <a:rPr sz="2600" b="1" i="0">
                <a:solidFill>
                  <a:srgbClr val="16323C"/>
                </a:solidFill>
                <a:latin typeface="Cambria"/>
              </a:rPr>
              <a:t>0.919 macro F1 on held-out data — read alongside its baselines</a:t>
            </a:r>
          </a:p>
        </p:txBody>
      </p:sp>
      <p:sp>
        <p:nvSpPr>
          <p:cNvPr id="4" name="TextBox 3"/>
          <p:cNvSpPr txBox="1"/>
          <p:nvPr/>
        </p:nvSpPr>
        <p:spPr>
          <a:xfrm>
            <a:off x="822960" y="1481328"/>
            <a:ext cx="5486400" cy="219456"/>
          </a:xfrm>
          <a:prstGeom prst="rect">
            <a:avLst/>
          </a:prstGeom>
          <a:noFill/>
        </p:spPr>
        <p:txBody>
          <a:bodyPr wrap="square" lIns="0" rIns="0" tIns="0" bIns="0">
            <a:noAutofit/>
          </a:bodyPr>
          <a:lstStyle/>
          <a:p>
            <a:pPr algn="l">
              <a:lnSpc>
                <a:spcPct val="105000"/>
              </a:lnSpc>
            </a:pPr>
            <a:r>
              <a:rPr sz="950" b="1" i="0">
                <a:solidFill>
                  <a:srgbClr val="1C7293"/>
                </a:solidFill>
                <a:latin typeface="Calibri"/>
              </a:rPr>
              <a:t>MACRO F1, SAME 657-AD TEST SPLIT</a:t>
            </a:r>
          </a:p>
        </p:txBody>
      </p:sp>
      <p:sp>
        <p:nvSpPr>
          <p:cNvPr id="5" name="TextBox 4"/>
          <p:cNvSpPr txBox="1"/>
          <p:nvPr/>
        </p:nvSpPr>
        <p:spPr>
          <a:xfrm>
            <a:off x="822960" y="1856231"/>
            <a:ext cx="1600200" cy="237744"/>
          </a:xfrm>
          <a:prstGeom prst="rect">
            <a:avLst/>
          </a:prstGeom>
          <a:noFill/>
        </p:spPr>
        <p:txBody>
          <a:bodyPr wrap="square" lIns="0" rIns="0" tIns="0" bIns="0">
            <a:noAutofit/>
          </a:bodyPr>
          <a:lstStyle/>
          <a:p>
            <a:pPr algn="l">
              <a:lnSpc>
                <a:spcPct val="105000"/>
              </a:lnSpc>
            </a:pPr>
            <a:r>
              <a:rPr sz="1050" b="0" i="0">
                <a:solidFill>
                  <a:srgbClr val="16323C"/>
                </a:solidFill>
                <a:latin typeface="Calibri"/>
              </a:rPr>
              <a:t>Majority class</a:t>
            </a:r>
          </a:p>
        </p:txBody>
      </p:sp>
      <p:sp>
        <p:nvSpPr>
          <p:cNvPr id="6" name="Rounded Rectangle 5"/>
          <p:cNvSpPr/>
          <p:nvPr/>
        </p:nvSpPr>
        <p:spPr>
          <a:xfrm>
            <a:off x="2423160" y="1874519"/>
            <a:ext cx="135788" cy="237744"/>
          </a:xfrm>
          <a:prstGeom prst="roundRect">
            <a:avLst>
              <a:gd name="adj" fmla="val 35000"/>
            </a:avLst>
          </a:prstGeom>
          <a:solidFill>
            <a:srgbClr val="B9C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32100" y="1856231"/>
            <a:ext cx="822960" cy="237744"/>
          </a:xfrm>
          <a:prstGeom prst="rect">
            <a:avLst/>
          </a:prstGeom>
          <a:noFill/>
        </p:spPr>
        <p:txBody>
          <a:bodyPr wrap="square" lIns="0" rIns="0" tIns="0" bIns="0">
            <a:noAutofit/>
          </a:bodyPr>
          <a:lstStyle/>
          <a:p>
            <a:pPr algn="l">
              <a:lnSpc>
                <a:spcPct val="105000"/>
              </a:lnSpc>
            </a:pPr>
            <a:r>
              <a:rPr sz="1050" b="1" i="0">
                <a:solidFill>
                  <a:srgbClr val="16323C"/>
                </a:solidFill>
                <a:latin typeface="Calibri"/>
              </a:rPr>
              <a:t>0.045</a:t>
            </a:r>
          </a:p>
        </p:txBody>
      </p:sp>
      <p:sp>
        <p:nvSpPr>
          <p:cNvPr id="8" name="TextBox 7"/>
          <p:cNvSpPr txBox="1"/>
          <p:nvPr/>
        </p:nvSpPr>
        <p:spPr>
          <a:xfrm>
            <a:off x="822960" y="2423160"/>
            <a:ext cx="1600200" cy="237744"/>
          </a:xfrm>
          <a:prstGeom prst="rect">
            <a:avLst/>
          </a:prstGeom>
          <a:noFill/>
        </p:spPr>
        <p:txBody>
          <a:bodyPr wrap="square" lIns="0" rIns="0" tIns="0" bIns="0">
            <a:noAutofit/>
          </a:bodyPr>
          <a:lstStyle/>
          <a:p>
            <a:pPr algn="l">
              <a:lnSpc>
                <a:spcPct val="105000"/>
              </a:lnSpc>
            </a:pPr>
            <a:r>
              <a:rPr sz="1050" b="0" i="0">
                <a:solidFill>
                  <a:srgbClr val="16323C"/>
                </a:solidFill>
                <a:latin typeface="Calibri"/>
              </a:rPr>
              <a:t>TF-IDF + LogReg</a:t>
            </a:r>
          </a:p>
        </p:txBody>
      </p:sp>
      <p:sp>
        <p:nvSpPr>
          <p:cNvPr id="9" name="Rounded Rectangle 8"/>
          <p:cNvSpPr/>
          <p:nvPr/>
        </p:nvSpPr>
        <p:spPr>
          <a:xfrm>
            <a:off x="2423160" y="2441448"/>
            <a:ext cx="2697662" cy="237744"/>
          </a:xfrm>
          <a:prstGeom prst="roundRect">
            <a:avLst>
              <a:gd name="adj" fmla="val 35000"/>
            </a:avLst>
          </a:prstGeom>
          <a:solidFill>
            <a:srgbClr val="B9C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93974" y="2423160"/>
            <a:ext cx="822960" cy="237744"/>
          </a:xfrm>
          <a:prstGeom prst="rect">
            <a:avLst/>
          </a:prstGeom>
          <a:noFill/>
        </p:spPr>
        <p:txBody>
          <a:bodyPr wrap="square" lIns="0" rIns="0" tIns="0" bIns="0">
            <a:noAutofit/>
          </a:bodyPr>
          <a:lstStyle/>
          <a:p>
            <a:pPr algn="l">
              <a:lnSpc>
                <a:spcPct val="105000"/>
              </a:lnSpc>
            </a:pPr>
            <a:r>
              <a:rPr sz="1050" b="1" i="0">
                <a:solidFill>
                  <a:srgbClr val="16323C"/>
                </a:solidFill>
                <a:latin typeface="Calibri"/>
              </a:rPr>
              <a:t>0.894</a:t>
            </a:r>
          </a:p>
        </p:txBody>
      </p:sp>
      <p:sp>
        <p:nvSpPr>
          <p:cNvPr id="11" name="TextBox 10"/>
          <p:cNvSpPr txBox="1"/>
          <p:nvPr/>
        </p:nvSpPr>
        <p:spPr>
          <a:xfrm>
            <a:off x="822960" y="2990088"/>
            <a:ext cx="1600200" cy="237744"/>
          </a:xfrm>
          <a:prstGeom prst="rect">
            <a:avLst/>
          </a:prstGeom>
          <a:noFill/>
        </p:spPr>
        <p:txBody>
          <a:bodyPr wrap="square" lIns="0" rIns="0" tIns="0" bIns="0">
            <a:noAutofit/>
          </a:bodyPr>
          <a:lstStyle/>
          <a:p>
            <a:pPr algn="l">
              <a:lnSpc>
                <a:spcPct val="105000"/>
              </a:lnSpc>
            </a:pPr>
            <a:r>
              <a:rPr sz="1050" b="0" i="0">
                <a:solidFill>
                  <a:srgbClr val="16323C"/>
                </a:solidFill>
                <a:latin typeface="Calibri"/>
              </a:rPr>
              <a:t>DistilBERT (tuned)</a:t>
            </a:r>
          </a:p>
        </p:txBody>
      </p:sp>
      <p:sp>
        <p:nvSpPr>
          <p:cNvPr id="12" name="Rounded Rectangle 11"/>
          <p:cNvSpPr/>
          <p:nvPr/>
        </p:nvSpPr>
        <p:spPr>
          <a:xfrm>
            <a:off x="2423160" y="3008376"/>
            <a:ext cx="2773100" cy="237744"/>
          </a:xfrm>
          <a:prstGeom prst="roundRect">
            <a:avLst>
              <a:gd name="adj" fmla="val 35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69412" y="2990088"/>
            <a:ext cx="822960" cy="237744"/>
          </a:xfrm>
          <a:prstGeom prst="rect">
            <a:avLst/>
          </a:prstGeom>
          <a:noFill/>
        </p:spPr>
        <p:txBody>
          <a:bodyPr wrap="square" lIns="0" rIns="0" tIns="0" bIns="0">
            <a:noAutofit/>
          </a:bodyPr>
          <a:lstStyle/>
          <a:p>
            <a:pPr algn="l">
              <a:lnSpc>
                <a:spcPct val="105000"/>
              </a:lnSpc>
            </a:pPr>
            <a:r>
              <a:rPr sz="1050" b="1" i="0">
                <a:solidFill>
                  <a:srgbClr val="16323C"/>
                </a:solidFill>
                <a:latin typeface="Calibri"/>
              </a:rPr>
              <a:t>0.919</a:t>
            </a:r>
          </a:p>
        </p:txBody>
      </p:sp>
      <p:sp>
        <p:nvSpPr>
          <p:cNvPr id="14" name="TextBox 13"/>
          <p:cNvSpPr txBox="1"/>
          <p:nvPr/>
        </p:nvSpPr>
        <p:spPr>
          <a:xfrm>
            <a:off x="822960" y="3575304"/>
            <a:ext cx="5120640" cy="219456"/>
          </a:xfrm>
          <a:prstGeom prst="rect">
            <a:avLst/>
          </a:prstGeom>
          <a:noFill/>
        </p:spPr>
        <p:txBody>
          <a:bodyPr wrap="square" lIns="0" rIns="0" tIns="0" bIns="0">
            <a:noAutofit/>
          </a:bodyPr>
          <a:lstStyle/>
          <a:p>
            <a:pPr algn="l">
              <a:lnSpc>
                <a:spcPct val="105000"/>
              </a:lnSpc>
            </a:pPr>
            <a:r>
              <a:rPr sz="900" b="0" i="0">
                <a:solidFill>
                  <a:srgbClr val="8FA6AD"/>
                </a:solidFill>
                <a:latin typeface="Calibri"/>
              </a:rPr>
              <a:t>accuracy: 0.219 · 0.901 · 0.929 — identical stratified split, seed 42</a:t>
            </a:r>
          </a:p>
        </p:txBody>
      </p:sp>
      <p:sp>
        <p:nvSpPr>
          <p:cNvPr id="15" name="TextBox 14"/>
          <p:cNvSpPr txBox="1"/>
          <p:nvPr/>
        </p:nvSpPr>
        <p:spPr>
          <a:xfrm>
            <a:off x="6400800" y="1481328"/>
            <a:ext cx="4965192" cy="219456"/>
          </a:xfrm>
          <a:prstGeom prst="rect">
            <a:avLst/>
          </a:prstGeom>
          <a:noFill/>
        </p:spPr>
        <p:txBody>
          <a:bodyPr wrap="square" lIns="0" rIns="0" tIns="0" bIns="0">
            <a:noAutofit/>
          </a:bodyPr>
          <a:lstStyle/>
          <a:p>
            <a:pPr algn="l">
              <a:lnSpc>
                <a:spcPct val="105000"/>
              </a:lnSpc>
            </a:pPr>
            <a:r>
              <a:rPr sz="950" b="1" i="0">
                <a:solidFill>
                  <a:srgbClr val="1C7293"/>
                </a:solidFill>
                <a:latin typeface="Calibri"/>
              </a:rPr>
              <a:t>7-CLASS → 8-CLASS (AFTER THE DATA REBUILD)</a:t>
            </a:r>
          </a:p>
        </p:txBody>
      </p:sp>
      <p:sp>
        <p:nvSpPr>
          <p:cNvPr id="16" name="TextBox 15"/>
          <p:cNvSpPr txBox="1"/>
          <p:nvPr/>
        </p:nvSpPr>
        <p:spPr>
          <a:xfrm>
            <a:off x="6400800" y="1783080"/>
            <a:ext cx="2926080" cy="502920"/>
          </a:xfrm>
          <a:prstGeom prst="rect">
            <a:avLst/>
          </a:prstGeom>
          <a:noFill/>
        </p:spPr>
        <p:txBody>
          <a:bodyPr wrap="square" lIns="0" rIns="0" tIns="0" bIns="0">
            <a:noAutofit/>
          </a:bodyPr>
          <a:lstStyle/>
          <a:p>
            <a:pPr algn="l">
              <a:lnSpc>
                <a:spcPct val="105000"/>
              </a:lnSpc>
            </a:pPr>
            <a:r>
              <a:rPr sz="3000" b="1" i="0">
                <a:solidFill>
                  <a:srgbClr val="1C7293"/>
                </a:solidFill>
                <a:latin typeface="Cambria"/>
              </a:rPr>
              <a:t>0.896→0.919</a:t>
            </a:r>
          </a:p>
        </p:txBody>
      </p:sp>
      <p:sp>
        <p:nvSpPr>
          <p:cNvPr id="17" name="TextBox 16"/>
          <p:cNvSpPr txBox="1"/>
          <p:nvPr/>
        </p:nvSpPr>
        <p:spPr>
          <a:xfrm>
            <a:off x="6400800" y="2286000"/>
            <a:ext cx="2926080" cy="457200"/>
          </a:xfrm>
          <a:prstGeom prst="rect">
            <a:avLst/>
          </a:prstGeom>
          <a:noFill/>
        </p:spPr>
        <p:txBody>
          <a:bodyPr wrap="square" lIns="0" rIns="0" tIns="0" bIns="0">
            <a:noAutofit/>
          </a:bodyPr>
          <a:lstStyle/>
          <a:p>
            <a:pPr algn="l">
              <a:lnSpc>
                <a:spcPct val="105000"/>
              </a:lnSpc>
            </a:pPr>
            <a:r>
              <a:rPr sz="950" b="0" i="0">
                <a:solidFill>
                  <a:srgbClr val="5A6E75"/>
                </a:solidFill>
                <a:latin typeface="Calibri"/>
              </a:rPr>
              <a:t>macro F1</a:t>
            </a:r>
          </a:p>
        </p:txBody>
      </p:sp>
      <p:sp>
        <p:nvSpPr>
          <p:cNvPr id="18" name="TextBox 17"/>
          <p:cNvSpPr txBox="1"/>
          <p:nvPr/>
        </p:nvSpPr>
        <p:spPr>
          <a:xfrm>
            <a:off x="6400800" y="2834640"/>
            <a:ext cx="2377440" cy="502920"/>
          </a:xfrm>
          <a:prstGeom prst="rect">
            <a:avLst/>
          </a:prstGeom>
          <a:noFill/>
        </p:spPr>
        <p:txBody>
          <a:bodyPr wrap="square" lIns="0" rIns="0" tIns="0" bIns="0">
            <a:noAutofit/>
          </a:bodyPr>
          <a:lstStyle/>
          <a:p>
            <a:pPr algn="l">
              <a:lnSpc>
                <a:spcPct val="105000"/>
              </a:lnSpc>
            </a:pPr>
            <a:r>
              <a:rPr sz="2200" b="1" i="0">
                <a:solidFill>
                  <a:srgbClr val="1C7293"/>
                </a:solidFill>
                <a:latin typeface="Cambria"/>
              </a:rPr>
              <a:t>0.909→0.929</a:t>
            </a:r>
          </a:p>
        </p:txBody>
      </p:sp>
      <p:sp>
        <p:nvSpPr>
          <p:cNvPr id="19" name="TextBox 18"/>
          <p:cNvSpPr txBox="1"/>
          <p:nvPr/>
        </p:nvSpPr>
        <p:spPr>
          <a:xfrm>
            <a:off x="6400800" y="3337560"/>
            <a:ext cx="2377440" cy="457200"/>
          </a:xfrm>
          <a:prstGeom prst="rect">
            <a:avLst/>
          </a:prstGeom>
          <a:noFill/>
        </p:spPr>
        <p:txBody>
          <a:bodyPr wrap="square" lIns="0" rIns="0" tIns="0" bIns="0">
            <a:noAutofit/>
          </a:bodyPr>
          <a:lstStyle/>
          <a:p>
            <a:pPr algn="l">
              <a:lnSpc>
                <a:spcPct val="105000"/>
              </a:lnSpc>
            </a:pPr>
            <a:r>
              <a:rPr sz="950" b="0" i="0">
                <a:solidFill>
                  <a:srgbClr val="5A6E75"/>
                </a:solidFill>
                <a:latin typeface="Calibri"/>
              </a:rPr>
              <a:t>accuracy</a:t>
            </a:r>
          </a:p>
        </p:txBody>
      </p:sp>
      <p:sp>
        <p:nvSpPr>
          <p:cNvPr id="20" name="TextBox 19"/>
          <p:cNvSpPr txBox="1"/>
          <p:nvPr/>
        </p:nvSpPr>
        <p:spPr>
          <a:xfrm>
            <a:off x="8961120" y="2834640"/>
            <a:ext cx="2194560" cy="502920"/>
          </a:xfrm>
          <a:prstGeom prst="rect">
            <a:avLst/>
          </a:prstGeom>
          <a:noFill/>
        </p:spPr>
        <p:txBody>
          <a:bodyPr wrap="square" lIns="0" rIns="0" tIns="0" bIns="0">
            <a:noAutofit/>
          </a:bodyPr>
          <a:lstStyle/>
          <a:p>
            <a:pPr algn="l">
              <a:lnSpc>
                <a:spcPct val="105000"/>
              </a:lnSpc>
            </a:pPr>
            <a:r>
              <a:rPr sz="2200" b="1" i="0">
                <a:solidFill>
                  <a:srgbClr val="1C7293"/>
                </a:solidFill>
                <a:latin typeface="Cambria"/>
              </a:rPr>
              <a:t>0.77→0.88</a:t>
            </a:r>
          </a:p>
        </p:txBody>
      </p:sp>
      <p:sp>
        <p:nvSpPr>
          <p:cNvPr id="21" name="TextBox 20"/>
          <p:cNvSpPr txBox="1"/>
          <p:nvPr/>
        </p:nvSpPr>
        <p:spPr>
          <a:xfrm>
            <a:off x="8961120" y="3337560"/>
            <a:ext cx="2194560" cy="457200"/>
          </a:xfrm>
          <a:prstGeom prst="rect">
            <a:avLst/>
          </a:prstGeom>
          <a:noFill/>
        </p:spPr>
        <p:txBody>
          <a:bodyPr wrap="square" lIns="0" rIns="0" tIns="0" bIns="0">
            <a:noAutofit/>
          </a:bodyPr>
          <a:lstStyle/>
          <a:p>
            <a:pPr algn="l">
              <a:lnSpc>
                <a:spcPct val="105000"/>
              </a:lnSpc>
            </a:pPr>
            <a:r>
              <a:rPr sz="950" b="0" i="0">
                <a:solidFill>
                  <a:srgbClr val="5A6E75"/>
                </a:solidFill>
                <a:latin typeface="Calibri"/>
              </a:rPr>
              <a:t>Social Proof F1</a:t>
            </a:r>
          </a:p>
        </p:txBody>
      </p:sp>
      <p:sp>
        <p:nvSpPr>
          <p:cNvPr id="22" name="Oval 21"/>
          <p:cNvSpPr/>
          <p:nvPr/>
        </p:nvSpPr>
        <p:spPr>
          <a:xfrm>
            <a:off x="6400800" y="3936491"/>
            <a:ext cx="82296" cy="8229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01968" y="3886200"/>
            <a:ext cx="4736592" cy="530352"/>
          </a:xfrm>
          <a:prstGeom prst="rect">
            <a:avLst/>
          </a:prstGeom>
          <a:noFill/>
        </p:spPr>
        <p:txBody>
          <a:bodyPr wrap="square" lIns="0" rIns="0" tIns="0" bIns="0">
            <a:noAutofit/>
          </a:bodyPr>
          <a:lstStyle/>
          <a:p>
            <a:pPr>
              <a:lnSpc>
                <a:spcPct val="112000"/>
              </a:lnSpc>
            </a:pPr>
            <a:r>
              <a:rPr sz="1050" b="1" i="0">
                <a:solidFill>
                  <a:srgbClr val="16323C"/>
                </a:solidFill>
                <a:latin typeface="Calibri"/>
              </a:rPr>
              <a:t>Neutral scores a perfect 1.00 </a:t>
            </a:r>
            <a:r>
              <a:rPr sz="1050" b="0" i="0">
                <a:solidFill>
                  <a:srgbClr val="5A6E75"/>
                </a:solidFill>
                <a:latin typeface="Calibri"/>
              </a:rPr>
              <a:t>— we report that as a warning, not a result: synthetic Neutral rows are trivially separable from tactic ads.</a:t>
            </a:r>
          </a:p>
        </p:txBody>
      </p:sp>
      <p:sp>
        <p:nvSpPr>
          <p:cNvPr id="24" name="Oval 23"/>
          <p:cNvSpPr/>
          <p:nvPr/>
        </p:nvSpPr>
        <p:spPr>
          <a:xfrm>
            <a:off x="6400800" y="4668012"/>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1968" y="4617720"/>
            <a:ext cx="4736592" cy="530352"/>
          </a:xfrm>
          <a:prstGeom prst="rect">
            <a:avLst/>
          </a:prstGeom>
          <a:noFill/>
        </p:spPr>
        <p:txBody>
          <a:bodyPr wrap="square" lIns="0" rIns="0" tIns="0" bIns="0">
            <a:noAutofit/>
          </a:bodyPr>
          <a:lstStyle/>
          <a:p>
            <a:pPr>
              <a:lnSpc>
                <a:spcPct val="112000"/>
              </a:lnSpc>
            </a:pPr>
            <a:r>
              <a:rPr sz="1050" b="0" i="0">
                <a:solidFill>
                  <a:srgbClr val="5A6E75"/>
                </a:solidFill>
                <a:latin typeface="Calibri"/>
              </a:rPr>
              <a:t>The 657-ad test set stayed untouched through model selection and tuning.</a:t>
            </a:r>
          </a:p>
        </p:txBody>
      </p:sp>
      <p:sp>
        <p:nvSpPr>
          <p:cNvPr id="26" name="Rounded Rectangle 25"/>
          <p:cNvSpPr/>
          <p:nvPr/>
        </p:nvSpPr>
        <p:spPr>
          <a:xfrm>
            <a:off x="822960" y="5257800"/>
            <a:ext cx="10543032" cy="914400"/>
          </a:xfrm>
          <a:prstGeom prst="roundRect">
            <a:avLst>
              <a:gd name="adj" fmla="val 8000"/>
            </a:avLst>
          </a:prstGeom>
          <a:solidFill>
            <a:srgbClr val="FB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468112"/>
            <a:ext cx="9966960" cy="566928"/>
          </a:xfrm>
          <a:prstGeom prst="rect">
            <a:avLst/>
          </a:prstGeom>
          <a:noFill/>
        </p:spPr>
        <p:txBody>
          <a:bodyPr wrap="square" lIns="0" rIns="0" tIns="0" bIns="0">
            <a:noAutofit/>
          </a:bodyPr>
          <a:lstStyle/>
          <a:p>
            <a:pPr>
              <a:lnSpc>
                <a:spcPct val="115000"/>
              </a:lnSpc>
            </a:pPr>
            <a:r>
              <a:rPr sz="1050" b="1" i="0">
                <a:solidFill>
                  <a:srgbClr val="8F5E12"/>
                </a:solidFill>
                <a:latin typeface="Calibri"/>
              </a:rPr>
              <a:t>Honest read: </a:t>
            </a:r>
            <a:r>
              <a:rPr sz="1050" b="0" i="0">
                <a:solidFill>
                  <a:srgbClr val="16323C"/>
                </a:solidFill>
                <a:latin typeface="Calibri"/>
              </a:rPr>
              <a:t>a classical baseline gets close. That is our shortcut story confirmed — formulaic ad phrasing rewards n-grams. DistilBERT's edge (+2.5 macro F1) comes exactly where phrasing varies, and it is the edge that survives on harder, less formulaic ads.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57200"/>
            <a:ext cx="10515600" cy="256032"/>
          </a:xfrm>
          <a:prstGeom prst="rect">
            <a:avLst/>
          </a:prstGeom>
          <a:noFill/>
        </p:spPr>
        <p:txBody>
          <a:bodyPr wrap="square" lIns="0" rIns="0" tIns="0" bIns="0">
            <a:noAutofit/>
          </a:bodyPr>
          <a:lstStyle/>
          <a:p>
            <a:pPr algn="l">
              <a:lnSpc>
                <a:spcPct val="105000"/>
              </a:lnSpc>
            </a:pPr>
            <a:r>
              <a:rPr sz="1000" b="1" i="0">
                <a:solidFill>
                  <a:srgbClr val="1C7293"/>
                </a:solidFill>
                <a:latin typeface="Calibri"/>
              </a:rPr>
              <a:t>AREA 3 · NLP METHOD AND EVALUATION — FAILURE ANALYSIS</a:t>
            </a:r>
          </a:p>
        </p:txBody>
      </p:sp>
      <p:sp>
        <p:nvSpPr>
          <p:cNvPr id="3" name="TextBox 2"/>
          <p:cNvSpPr txBox="1"/>
          <p:nvPr/>
        </p:nvSpPr>
        <p:spPr>
          <a:xfrm>
            <a:off x="822960" y="749808"/>
            <a:ext cx="10515600" cy="566928"/>
          </a:xfrm>
          <a:prstGeom prst="rect">
            <a:avLst/>
          </a:prstGeom>
          <a:noFill/>
        </p:spPr>
        <p:txBody>
          <a:bodyPr wrap="square" lIns="0" rIns="0" tIns="0" bIns="0">
            <a:noAutofit/>
          </a:bodyPr>
          <a:lstStyle/>
          <a:p>
            <a:pPr algn="l">
              <a:lnSpc>
                <a:spcPct val="105000"/>
              </a:lnSpc>
            </a:pPr>
            <a:r>
              <a:rPr sz="2600" b="1" i="0">
                <a:solidFill>
                  <a:srgbClr val="16323C"/>
                </a:solidFill>
                <a:latin typeface="Cambria"/>
              </a:rPr>
              <a:t>The real world is not our test set</a:t>
            </a:r>
          </a:p>
        </p:txBody>
      </p:sp>
      <p:sp>
        <p:nvSpPr>
          <p:cNvPr id="4" name="TextBox 3"/>
          <p:cNvSpPr txBox="1"/>
          <p:nvPr/>
        </p:nvSpPr>
        <p:spPr>
          <a:xfrm>
            <a:off x="822960" y="1517904"/>
            <a:ext cx="5120640" cy="219456"/>
          </a:xfrm>
          <a:prstGeom prst="rect">
            <a:avLst/>
          </a:prstGeom>
          <a:noFill/>
        </p:spPr>
        <p:txBody>
          <a:bodyPr wrap="square" lIns="0" rIns="0" tIns="0" bIns="0">
            <a:noAutofit/>
          </a:bodyPr>
          <a:lstStyle/>
          <a:p>
            <a:pPr algn="l">
              <a:lnSpc>
                <a:spcPct val="105000"/>
              </a:lnSpc>
            </a:pPr>
            <a:r>
              <a:rPr sz="950" b="1" i="0">
                <a:solidFill>
                  <a:srgbClr val="1C7293"/>
                </a:solidFill>
                <a:latin typeface="Calibri"/>
              </a:rPr>
              <a:t>6 GENUINE ADS FROM X / INSTAGRAM / REELS — TEXT EXTRACTION (53 REQUIRED STRINGS)</a:t>
            </a:r>
          </a:p>
        </p:txBody>
      </p:sp>
      <p:sp>
        <p:nvSpPr>
          <p:cNvPr id="5" name="TextBox 4"/>
          <p:cNvSpPr txBox="1"/>
          <p:nvPr/>
        </p:nvSpPr>
        <p:spPr>
          <a:xfrm>
            <a:off x="822960" y="2039112"/>
            <a:ext cx="1600200" cy="237744"/>
          </a:xfrm>
          <a:prstGeom prst="rect">
            <a:avLst/>
          </a:prstGeom>
          <a:noFill/>
        </p:spPr>
        <p:txBody>
          <a:bodyPr wrap="square" lIns="0" rIns="0" tIns="0" bIns="0">
            <a:noAutofit/>
          </a:bodyPr>
          <a:lstStyle/>
          <a:p>
            <a:pPr algn="l">
              <a:lnSpc>
                <a:spcPct val="105000"/>
              </a:lnSpc>
            </a:pPr>
            <a:r>
              <a:rPr sz="1050" b="0" i="0">
                <a:solidFill>
                  <a:srgbClr val="16323C"/>
                </a:solidFill>
                <a:latin typeface="Calibri"/>
              </a:rPr>
              <a:t>RapidOCR raw</a:t>
            </a:r>
          </a:p>
        </p:txBody>
      </p:sp>
      <p:sp>
        <p:nvSpPr>
          <p:cNvPr id="6" name="Rounded Rectangle 5"/>
          <p:cNvSpPr/>
          <p:nvPr/>
        </p:nvSpPr>
        <p:spPr>
          <a:xfrm>
            <a:off x="2423160" y="2057400"/>
            <a:ext cx="1458468" cy="237744"/>
          </a:xfrm>
          <a:prstGeom prst="roundRect">
            <a:avLst>
              <a:gd name="adj" fmla="val 35000"/>
            </a:avLst>
          </a:prstGeom>
          <a:solidFill>
            <a:srgbClr val="B9C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54780" y="2039112"/>
            <a:ext cx="822960" cy="237744"/>
          </a:xfrm>
          <a:prstGeom prst="rect">
            <a:avLst/>
          </a:prstGeom>
          <a:noFill/>
        </p:spPr>
        <p:txBody>
          <a:bodyPr wrap="square" lIns="0" rIns="0" tIns="0" bIns="0">
            <a:noAutofit/>
          </a:bodyPr>
          <a:lstStyle/>
          <a:p>
            <a:pPr algn="l">
              <a:lnSpc>
                <a:spcPct val="105000"/>
              </a:lnSpc>
            </a:pPr>
            <a:r>
              <a:rPr sz="1050" b="1" i="0">
                <a:solidFill>
                  <a:srgbClr val="16323C"/>
                </a:solidFill>
                <a:latin typeface="Calibri"/>
              </a:rPr>
              <a:t>55%</a:t>
            </a:r>
          </a:p>
        </p:txBody>
      </p:sp>
      <p:sp>
        <p:nvSpPr>
          <p:cNvPr id="8" name="TextBox 7"/>
          <p:cNvSpPr txBox="1"/>
          <p:nvPr/>
        </p:nvSpPr>
        <p:spPr>
          <a:xfrm>
            <a:off x="822960" y="2606040"/>
            <a:ext cx="1600200" cy="237744"/>
          </a:xfrm>
          <a:prstGeom prst="rect">
            <a:avLst/>
          </a:prstGeom>
          <a:noFill/>
        </p:spPr>
        <p:txBody>
          <a:bodyPr wrap="square" lIns="0" rIns="0" tIns="0" bIns="0">
            <a:noAutofit/>
          </a:bodyPr>
          <a:lstStyle/>
          <a:p>
            <a:pPr algn="l">
              <a:lnSpc>
                <a:spcPct val="105000"/>
              </a:lnSpc>
            </a:pPr>
            <a:r>
              <a:rPr sz="1050" b="0" i="0">
                <a:solidFill>
                  <a:srgbClr val="16323C"/>
                </a:solidFill>
                <a:latin typeface="Calibri"/>
              </a:rPr>
              <a:t>Our OCR + repair</a:t>
            </a:r>
          </a:p>
        </p:txBody>
      </p:sp>
      <p:sp>
        <p:nvSpPr>
          <p:cNvPr id="9" name="Rounded Rectangle 8"/>
          <p:cNvSpPr/>
          <p:nvPr/>
        </p:nvSpPr>
        <p:spPr>
          <a:xfrm>
            <a:off x="2423160" y="2624328"/>
            <a:ext cx="1697126" cy="237744"/>
          </a:xfrm>
          <a:prstGeom prst="roundRect">
            <a:avLst>
              <a:gd name="adj" fmla="val 35000"/>
            </a:avLst>
          </a:prstGeom>
          <a:solidFill>
            <a:srgbClr val="B9C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93438" y="2606040"/>
            <a:ext cx="822960" cy="237744"/>
          </a:xfrm>
          <a:prstGeom prst="rect">
            <a:avLst/>
          </a:prstGeom>
          <a:noFill/>
        </p:spPr>
        <p:txBody>
          <a:bodyPr wrap="square" lIns="0" rIns="0" tIns="0" bIns="0">
            <a:noAutofit/>
          </a:bodyPr>
          <a:lstStyle/>
          <a:p>
            <a:pPr algn="l">
              <a:lnSpc>
                <a:spcPct val="105000"/>
              </a:lnSpc>
            </a:pPr>
            <a:r>
              <a:rPr sz="1050" b="1" i="0">
                <a:solidFill>
                  <a:srgbClr val="16323C"/>
                </a:solidFill>
                <a:latin typeface="Calibri"/>
              </a:rPr>
              <a:t>64%</a:t>
            </a:r>
          </a:p>
        </p:txBody>
      </p:sp>
      <p:sp>
        <p:nvSpPr>
          <p:cNvPr id="11" name="TextBox 10"/>
          <p:cNvSpPr txBox="1"/>
          <p:nvPr/>
        </p:nvSpPr>
        <p:spPr>
          <a:xfrm>
            <a:off x="822960" y="3172968"/>
            <a:ext cx="1600200" cy="237744"/>
          </a:xfrm>
          <a:prstGeom prst="rect">
            <a:avLst/>
          </a:prstGeom>
          <a:noFill/>
        </p:spPr>
        <p:txBody>
          <a:bodyPr wrap="square" lIns="0" rIns="0" tIns="0" bIns="0">
            <a:noAutofit/>
          </a:bodyPr>
          <a:lstStyle/>
          <a:p>
            <a:pPr algn="l">
              <a:lnSpc>
                <a:spcPct val="105000"/>
              </a:lnSpc>
            </a:pPr>
            <a:r>
              <a:rPr sz="1050" b="0" i="0">
                <a:solidFill>
                  <a:srgbClr val="16323C"/>
                </a:solidFill>
                <a:latin typeface="Calibri"/>
              </a:rPr>
              <a:t>VLM transcription</a:t>
            </a:r>
          </a:p>
        </p:txBody>
      </p:sp>
      <p:sp>
        <p:nvSpPr>
          <p:cNvPr id="12" name="Rounded Rectangle 11"/>
          <p:cNvSpPr/>
          <p:nvPr/>
        </p:nvSpPr>
        <p:spPr>
          <a:xfrm>
            <a:off x="2423160" y="3191256"/>
            <a:ext cx="2360066" cy="237744"/>
          </a:xfrm>
          <a:prstGeom prst="roundRect">
            <a:avLst>
              <a:gd name="adj" fmla="val 35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56378" y="3172968"/>
            <a:ext cx="822960" cy="237744"/>
          </a:xfrm>
          <a:prstGeom prst="rect">
            <a:avLst/>
          </a:prstGeom>
          <a:noFill/>
        </p:spPr>
        <p:txBody>
          <a:bodyPr wrap="square" lIns="0" rIns="0" tIns="0" bIns="0">
            <a:noAutofit/>
          </a:bodyPr>
          <a:lstStyle/>
          <a:p>
            <a:pPr algn="l">
              <a:lnSpc>
                <a:spcPct val="105000"/>
              </a:lnSpc>
            </a:pPr>
            <a:r>
              <a:rPr sz="1050" b="1" i="0">
                <a:solidFill>
                  <a:srgbClr val="16323C"/>
                </a:solidFill>
                <a:latin typeface="Calibri"/>
              </a:rPr>
              <a:t>89%</a:t>
            </a:r>
          </a:p>
        </p:txBody>
      </p:sp>
      <p:sp>
        <p:nvSpPr>
          <p:cNvPr id="14" name="TextBox 13"/>
          <p:cNvSpPr txBox="1"/>
          <p:nvPr/>
        </p:nvSpPr>
        <p:spPr>
          <a:xfrm>
            <a:off x="822960" y="3831336"/>
            <a:ext cx="5029200" cy="731520"/>
          </a:xfrm>
          <a:prstGeom prst="rect">
            <a:avLst/>
          </a:prstGeom>
          <a:noFill/>
        </p:spPr>
        <p:txBody>
          <a:bodyPr wrap="square" lIns="0" rIns="0" tIns="0" bIns="0">
            <a:noAutofit/>
          </a:bodyPr>
          <a:lstStyle/>
          <a:p>
            <a:pPr algn="l">
              <a:lnSpc>
                <a:spcPct val="115000"/>
              </a:lnSpc>
            </a:pPr>
            <a:r>
              <a:rPr sz="1000" b="0" i="0">
                <a:solidFill>
                  <a:srgbClr val="5A6E75"/>
                </a:solidFill>
                <a:latin typeface="Calibri"/>
              </a:rPr>
              <a:t>The OCR bug that started it: an avatar covered "TH", RapidOCR read "ISWEEKONLY" — the Urgency trigger never fired and the ad passed as clean.</a:t>
            </a:r>
          </a:p>
        </p:txBody>
      </p:sp>
      <p:sp>
        <p:nvSpPr>
          <p:cNvPr id="15" name="TextBox 14"/>
          <p:cNvSpPr txBox="1"/>
          <p:nvPr/>
        </p:nvSpPr>
        <p:spPr>
          <a:xfrm>
            <a:off x="6400800" y="1517904"/>
            <a:ext cx="4965192" cy="219456"/>
          </a:xfrm>
          <a:prstGeom prst="rect">
            <a:avLst/>
          </a:prstGeom>
          <a:noFill/>
        </p:spPr>
        <p:txBody>
          <a:bodyPr wrap="square" lIns="0" rIns="0" tIns="0" bIns="0">
            <a:noAutofit/>
          </a:bodyPr>
          <a:lstStyle/>
          <a:p>
            <a:pPr algn="l">
              <a:lnSpc>
                <a:spcPct val="105000"/>
              </a:lnSpc>
            </a:pPr>
            <a:r>
              <a:rPr sz="950" b="1" i="0">
                <a:solidFill>
                  <a:srgbClr val="1C7293"/>
                </a:solidFill>
                <a:latin typeface="Calibri"/>
              </a:rPr>
              <a:t>…BUT CLASSIFICATION BARELY MOVED</a:t>
            </a:r>
          </a:p>
        </p:txBody>
      </p:sp>
      <p:sp>
        <p:nvSpPr>
          <p:cNvPr id="16" name="TextBox 15"/>
          <p:cNvSpPr txBox="1"/>
          <p:nvPr/>
        </p:nvSpPr>
        <p:spPr>
          <a:xfrm>
            <a:off x="6400800" y="1828800"/>
            <a:ext cx="1554480" cy="502920"/>
          </a:xfrm>
          <a:prstGeom prst="rect">
            <a:avLst/>
          </a:prstGeom>
          <a:noFill/>
        </p:spPr>
        <p:txBody>
          <a:bodyPr wrap="square" lIns="0" rIns="0" tIns="0" bIns="0">
            <a:noAutofit/>
          </a:bodyPr>
          <a:lstStyle/>
          <a:p>
            <a:pPr algn="l">
              <a:lnSpc>
                <a:spcPct val="105000"/>
              </a:lnSpc>
            </a:pPr>
            <a:r>
              <a:rPr sz="2800" b="1" i="0">
                <a:solidFill>
                  <a:srgbClr val="B97A1F"/>
                </a:solidFill>
                <a:latin typeface="Cambria"/>
              </a:rPr>
              <a:t>1 / 6</a:t>
            </a:r>
          </a:p>
        </p:txBody>
      </p:sp>
      <p:sp>
        <p:nvSpPr>
          <p:cNvPr id="17" name="TextBox 16"/>
          <p:cNvSpPr txBox="1"/>
          <p:nvPr/>
        </p:nvSpPr>
        <p:spPr>
          <a:xfrm>
            <a:off x="6400800" y="2331720"/>
            <a:ext cx="1554480" cy="457200"/>
          </a:xfrm>
          <a:prstGeom prst="rect">
            <a:avLst/>
          </a:prstGeom>
          <a:noFill/>
        </p:spPr>
        <p:txBody>
          <a:bodyPr wrap="square" lIns="0" rIns="0" tIns="0" bIns="0">
            <a:noAutofit/>
          </a:bodyPr>
          <a:lstStyle/>
          <a:p>
            <a:pPr algn="l">
              <a:lnSpc>
                <a:spcPct val="105000"/>
              </a:lnSpc>
            </a:pPr>
            <a:r>
              <a:rPr sz="950" b="0" i="0">
                <a:solidFill>
                  <a:srgbClr val="5A6E75"/>
                </a:solidFill>
                <a:latin typeface="Calibri"/>
              </a:rPr>
              <a:t>correct with OCR text</a:t>
            </a:r>
          </a:p>
        </p:txBody>
      </p:sp>
      <p:sp>
        <p:nvSpPr>
          <p:cNvPr id="18" name="TextBox 17"/>
          <p:cNvSpPr txBox="1"/>
          <p:nvPr/>
        </p:nvSpPr>
        <p:spPr>
          <a:xfrm>
            <a:off x="8046720" y="1828800"/>
            <a:ext cx="1645920" cy="502920"/>
          </a:xfrm>
          <a:prstGeom prst="rect">
            <a:avLst/>
          </a:prstGeom>
          <a:noFill/>
        </p:spPr>
        <p:txBody>
          <a:bodyPr wrap="square" lIns="0" rIns="0" tIns="0" bIns="0">
            <a:noAutofit/>
          </a:bodyPr>
          <a:lstStyle/>
          <a:p>
            <a:pPr algn="l">
              <a:lnSpc>
                <a:spcPct val="105000"/>
              </a:lnSpc>
            </a:pPr>
            <a:r>
              <a:rPr sz="2800" b="1" i="0">
                <a:solidFill>
                  <a:srgbClr val="B97A1F"/>
                </a:solidFill>
                <a:latin typeface="Cambria"/>
              </a:rPr>
              <a:t>0 / 6</a:t>
            </a:r>
          </a:p>
        </p:txBody>
      </p:sp>
      <p:sp>
        <p:nvSpPr>
          <p:cNvPr id="19" name="TextBox 18"/>
          <p:cNvSpPr txBox="1"/>
          <p:nvPr/>
        </p:nvSpPr>
        <p:spPr>
          <a:xfrm>
            <a:off x="8046720" y="2331720"/>
            <a:ext cx="1645920" cy="457200"/>
          </a:xfrm>
          <a:prstGeom prst="rect">
            <a:avLst/>
          </a:prstGeom>
          <a:noFill/>
        </p:spPr>
        <p:txBody>
          <a:bodyPr wrap="square" lIns="0" rIns="0" tIns="0" bIns="0">
            <a:noAutofit/>
          </a:bodyPr>
          <a:lstStyle/>
          <a:p>
            <a:pPr algn="l">
              <a:lnSpc>
                <a:spcPct val="105000"/>
              </a:lnSpc>
            </a:pPr>
            <a:r>
              <a:rPr sz="950" b="0" i="0">
                <a:solidFill>
                  <a:srgbClr val="5A6E75"/>
                </a:solidFill>
                <a:latin typeface="Calibri"/>
              </a:rPr>
              <a:t>correct with cleaner VLM text</a:t>
            </a:r>
          </a:p>
        </p:txBody>
      </p:sp>
      <p:sp>
        <p:nvSpPr>
          <p:cNvPr id="20" name="TextBox 19"/>
          <p:cNvSpPr txBox="1"/>
          <p:nvPr/>
        </p:nvSpPr>
        <p:spPr>
          <a:xfrm>
            <a:off x="9784080" y="1828800"/>
            <a:ext cx="1554480" cy="502920"/>
          </a:xfrm>
          <a:prstGeom prst="rect">
            <a:avLst/>
          </a:prstGeom>
          <a:noFill/>
        </p:spPr>
        <p:txBody>
          <a:bodyPr wrap="square" lIns="0" rIns="0" tIns="0" bIns="0">
            <a:noAutofit/>
          </a:bodyPr>
          <a:lstStyle/>
          <a:p>
            <a:pPr algn="l">
              <a:lnSpc>
                <a:spcPct val="105000"/>
              </a:lnSpc>
            </a:pPr>
            <a:r>
              <a:rPr sz="2800" b="1" i="0">
                <a:solidFill>
                  <a:srgbClr val="B97A1F"/>
                </a:solidFill>
                <a:latin typeface="Cambria"/>
              </a:rPr>
              <a:t>0</a:t>
            </a:r>
          </a:p>
        </p:txBody>
      </p:sp>
      <p:sp>
        <p:nvSpPr>
          <p:cNvPr id="21" name="TextBox 20"/>
          <p:cNvSpPr txBox="1"/>
          <p:nvPr/>
        </p:nvSpPr>
        <p:spPr>
          <a:xfrm>
            <a:off x="9784080" y="2331720"/>
            <a:ext cx="1554480" cy="457200"/>
          </a:xfrm>
          <a:prstGeom prst="rect">
            <a:avLst/>
          </a:prstGeom>
          <a:noFill/>
        </p:spPr>
        <p:txBody>
          <a:bodyPr wrap="square" lIns="0" rIns="0" tIns="0" bIns="0">
            <a:noAutofit/>
          </a:bodyPr>
          <a:lstStyle/>
          <a:p>
            <a:pPr algn="l">
              <a:lnSpc>
                <a:spcPct val="105000"/>
              </a:lnSpc>
            </a:pPr>
            <a:r>
              <a:rPr sz="950" b="0" i="0">
                <a:solidFill>
                  <a:srgbClr val="5A6E75"/>
                </a:solidFill>
                <a:latin typeface="Calibri"/>
              </a:rPr>
              <a:t>trigger phrases fired in 18 runs</a:t>
            </a:r>
          </a:p>
        </p:txBody>
      </p:sp>
      <p:sp>
        <p:nvSpPr>
          <p:cNvPr id="22" name="Oval 21"/>
          <p:cNvSpPr/>
          <p:nvPr/>
        </p:nvSpPr>
        <p:spPr>
          <a:xfrm>
            <a:off x="6400800" y="3022092"/>
            <a:ext cx="82296" cy="82296"/>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01968" y="2971800"/>
            <a:ext cx="4782312" cy="530352"/>
          </a:xfrm>
          <a:prstGeom prst="rect">
            <a:avLst/>
          </a:prstGeom>
          <a:noFill/>
        </p:spPr>
        <p:txBody>
          <a:bodyPr wrap="square" lIns="0" rIns="0" tIns="0" bIns="0">
            <a:noAutofit/>
          </a:bodyPr>
          <a:lstStyle/>
          <a:p>
            <a:pPr>
              <a:lnSpc>
                <a:spcPct val="112000"/>
              </a:lnSpc>
            </a:pPr>
            <a:r>
              <a:rPr sz="1050" b="1" i="0">
                <a:solidFill>
                  <a:srgbClr val="16323C"/>
                </a:solidFill>
                <a:latin typeface="Calibri"/>
              </a:rPr>
              <a:t>4 of 6 were income-claim ads </a:t>
            </a:r>
            <a:r>
              <a:rPr sz="1050" b="0" i="0">
                <a:solidFill>
                  <a:srgbClr val="5A6E75"/>
                </a:solidFill>
                <a:latin typeface="Calibri"/>
              </a:rPr>
              <a:t>— a genre absent from our training data. One scored "Urgency, 98%" with no deadline in the ad: a confident error.</a:t>
            </a:r>
          </a:p>
        </p:txBody>
      </p:sp>
      <p:sp>
        <p:nvSpPr>
          <p:cNvPr id="24" name="Oval 23"/>
          <p:cNvSpPr/>
          <p:nvPr/>
        </p:nvSpPr>
        <p:spPr>
          <a:xfrm>
            <a:off x="6400800" y="3845052"/>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1968" y="3794760"/>
            <a:ext cx="4782312" cy="530352"/>
          </a:xfrm>
          <a:prstGeom prst="rect">
            <a:avLst/>
          </a:prstGeom>
          <a:noFill/>
        </p:spPr>
        <p:txBody>
          <a:bodyPr wrap="square" lIns="0" rIns="0" tIns="0" bIns="0">
            <a:noAutofit/>
          </a:bodyPr>
          <a:lstStyle/>
          <a:p>
            <a:pPr>
              <a:lnSpc>
                <a:spcPct val="112000"/>
              </a:lnSpc>
            </a:pPr>
            <a:r>
              <a:rPr sz="1050" b="1" i="0">
                <a:solidFill>
                  <a:srgbClr val="16323C"/>
                </a:solidFill>
                <a:latin typeface="Calibri"/>
              </a:rPr>
              <a:t>The 0.60 guard kept the system silent on 4 of 6 </a:t>
            </a:r>
            <a:r>
              <a:rPr sz="1050" b="0" i="0">
                <a:solidFill>
                  <a:srgbClr val="5A6E75"/>
                </a:solidFill>
                <a:latin typeface="Calibri"/>
              </a:rPr>
              <a:t>— for a 60+ audience, silence is the right failure mode; a false alarm teaches users to stop trusting the tool.</a:t>
            </a:r>
          </a:p>
        </p:txBody>
      </p:sp>
      <p:sp>
        <p:nvSpPr>
          <p:cNvPr id="26" name="Oval 25"/>
          <p:cNvSpPr/>
          <p:nvPr/>
        </p:nvSpPr>
        <p:spPr>
          <a:xfrm>
            <a:off x="6400800" y="4668012"/>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01968" y="4617720"/>
            <a:ext cx="4782312" cy="530352"/>
          </a:xfrm>
          <a:prstGeom prst="rect">
            <a:avLst/>
          </a:prstGeom>
          <a:noFill/>
        </p:spPr>
        <p:txBody>
          <a:bodyPr wrap="square" lIns="0" rIns="0" tIns="0" bIns="0">
            <a:noAutofit/>
          </a:bodyPr>
          <a:lstStyle/>
          <a:p>
            <a:pPr>
              <a:lnSpc>
                <a:spcPct val="112000"/>
              </a:lnSpc>
            </a:pPr>
            <a:r>
              <a:rPr sz="1050" b="1" i="0">
                <a:solidFill>
                  <a:srgbClr val="16323C"/>
                </a:solidFill>
                <a:latin typeface="Calibri"/>
              </a:rPr>
              <a:t>Sentence-level probing agrees: </a:t>
            </a:r>
            <a:r>
              <a:rPr sz="1050" b="0" i="0">
                <a:solidFill>
                  <a:srgbClr val="5A6E75"/>
                </a:solidFill>
                <a:latin typeface="Calibri"/>
              </a:rPr>
              <a:t>out-of-distribution fragments get confident nonsense ("take two capsules daily" → Fear, 99%).</a:t>
            </a:r>
          </a:p>
        </p:txBody>
      </p:sp>
      <p:sp>
        <p:nvSpPr>
          <p:cNvPr id="28" name="Rounded Rectangle 27"/>
          <p:cNvSpPr/>
          <p:nvPr/>
        </p:nvSpPr>
        <p:spPr>
          <a:xfrm>
            <a:off x="822960" y="5532120"/>
            <a:ext cx="10543032" cy="777240"/>
          </a:xfrm>
          <a:prstGeom prst="roundRect">
            <a:avLst>
              <a:gd name="adj" fmla="val 8000"/>
            </a:avLst>
          </a:prstGeom>
          <a:solidFill>
            <a:srgbClr val="FB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97280" y="5742432"/>
            <a:ext cx="9966960" cy="457200"/>
          </a:xfrm>
          <a:prstGeom prst="rect">
            <a:avLst/>
          </a:prstGeom>
          <a:noFill/>
        </p:spPr>
        <p:txBody>
          <a:bodyPr wrap="square" lIns="0" rIns="0" tIns="0" bIns="0">
            <a:noAutofit/>
          </a:bodyPr>
          <a:lstStyle/>
          <a:p>
            <a:pPr>
              <a:lnSpc>
                <a:spcPct val="110000"/>
              </a:lnSpc>
            </a:pPr>
            <a:r>
              <a:rPr sz="1100" b="1" i="0">
                <a:solidFill>
                  <a:srgbClr val="8F5E12"/>
                </a:solidFill>
                <a:latin typeface="Calibri"/>
              </a:rPr>
              <a:t>Takeaway: </a:t>
            </a:r>
            <a:r>
              <a:rPr sz="1100" b="0" i="0">
                <a:solidFill>
                  <a:srgbClr val="16323C"/>
                </a:solidFill>
                <a:latin typeface="Calibri"/>
              </a:rPr>
              <a:t>better extraction didn't fix classification — the bottleneck is the training distribution, not the input pipeline. That finding sets our roadmap.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57200"/>
            <a:ext cx="10515600" cy="256032"/>
          </a:xfrm>
          <a:prstGeom prst="rect">
            <a:avLst/>
          </a:prstGeom>
          <a:noFill/>
        </p:spPr>
        <p:txBody>
          <a:bodyPr wrap="square" lIns="0" rIns="0" tIns="0" bIns="0">
            <a:noAutofit/>
          </a:bodyPr>
          <a:lstStyle/>
          <a:p>
            <a:pPr algn="l">
              <a:lnSpc>
                <a:spcPct val="105000"/>
              </a:lnSpc>
            </a:pPr>
            <a:r>
              <a:rPr sz="1000" b="1" i="0">
                <a:solidFill>
                  <a:srgbClr val="1C7293"/>
                </a:solidFill>
                <a:latin typeface="Calibri"/>
              </a:rPr>
              <a:t>AREA 4 · USER EVIDENCE</a:t>
            </a:r>
          </a:p>
        </p:txBody>
      </p:sp>
      <p:sp>
        <p:nvSpPr>
          <p:cNvPr id="3" name="TextBox 2"/>
          <p:cNvSpPr txBox="1"/>
          <p:nvPr/>
        </p:nvSpPr>
        <p:spPr>
          <a:xfrm>
            <a:off x="822960" y="749808"/>
            <a:ext cx="10515600" cy="566928"/>
          </a:xfrm>
          <a:prstGeom prst="rect">
            <a:avLst/>
          </a:prstGeom>
          <a:noFill/>
        </p:spPr>
        <p:txBody>
          <a:bodyPr wrap="square" lIns="0" rIns="0" tIns="0" bIns="0">
            <a:noAutofit/>
          </a:bodyPr>
          <a:lstStyle/>
          <a:p>
            <a:pPr algn="l">
              <a:lnSpc>
                <a:spcPct val="105000"/>
              </a:lnSpc>
            </a:pPr>
            <a:r>
              <a:rPr sz="2600" b="1" i="0">
                <a:solidFill>
                  <a:srgbClr val="16323C"/>
                </a:solidFill>
                <a:latin typeface="Cambria"/>
              </a:rPr>
              <a:t>Six users, ages 60–74, four tasks each</a:t>
            </a:r>
          </a:p>
        </p:txBody>
      </p:sp>
      <p:sp>
        <p:nvSpPr>
          <p:cNvPr id="4" name="TextBox 3"/>
          <p:cNvSpPr txBox="1"/>
          <p:nvPr/>
        </p:nvSpPr>
        <p:spPr>
          <a:xfrm>
            <a:off x="822960" y="1600200"/>
            <a:ext cx="2011680" cy="502920"/>
          </a:xfrm>
          <a:prstGeom prst="rect">
            <a:avLst/>
          </a:prstGeom>
          <a:noFill/>
        </p:spPr>
        <p:txBody>
          <a:bodyPr wrap="square" lIns="0" rIns="0" tIns="0" bIns="0">
            <a:noAutofit/>
          </a:bodyPr>
          <a:lstStyle/>
          <a:p>
            <a:pPr algn="l">
              <a:lnSpc>
                <a:spcPct val="105000"/>
              </a:lnSpc>
            </a:pPr>
            <a:r>
              <a:rPr sz="3200" b="1" i="0">
                <a:solidFill>
                  <a:srgbClr val="1C7293"/>
                </a:solidFill>
                <a:latin typeface="Cambria"/>
              </a:rPr>
              <a:t>5/6</a:t>
            </a:r>
          </a:p>
        </p:txBody>
      </p:sp>
      <p:sp>
        <p:nvSpPr>
          <p:cNvPr id="5" name="TextBox 4"/>
          <p:cNvSpPr txBox="1"/>
          <p:nvPr/>
        </p:nvSpPr>
        <p:spPr>
          <a:xfrm>
            <a:off x="822960" y="2103120"/>
            <a:ext cx="2011680" cy="457200"/>
          </a:xfrm>
          <a:prstGeom prst="rect">
            <a:avLst/>
          </a:prstGeom>
          <a:noFill/>
        </p:spPr>
        <p:txBody>
          <a:bodyPr wrap="square" lIns="0" rIns="0" tIns="0" bIns="0">
            <a:noAutofit/>
          </a:bodyPr>
          <a:lstStyle/>
          <a:p>
            <a:pPr algn="l">
              <a:lnSpc>
                <a:spcPct val="105000"/>
              </a:lnSpc>
            </a:pPr>
            <a:r>
              <a:rPr sz="950" b="0" i="0">
                <a:solidFill>
                  <a:srgbClr val="5A6E75"/>
                </a:solidFill>
                <a:latin typeface="Calibri"/>
              </a:rPr>
              <a:t>completed the text-ad task without assistance</a:t>
            </a:r>
          </a:p>
        </p:txBody>
      </p:sp>
      <p:sp>
        <p:nvSpPr>
          <p:cNvPr id="6" name="TextBox 5"/>
          <p:cNvSpPr txBox="1"/>
          <p:nvPr/>
        </p:nvSpPr>
        <p:spPr>
          <a:xfrm>
            <a:off x="3108960" y="1600200"/>
            <a:ext cx="2011680" cy="502920"/>
          </a:xfrm>
          <a:prstGeom prst="rect">
            <a:avLst/>
          </a:prstGeom>
          <a:noFill/>
        </p:spPr>
        <p:txBody>
          <a:bodyPr wrap="square" lIns="0" rIns="0" tIns="0" bIns="0">
            <a:noAutofit/>
          </a:bodyPr>
          <a:lstStyle/>
          <a:p>
            <a:pPr algn="l">
              <a:lnSpc>
                <a:spcPct val="105000"/>
              </a:lnSpc>
            </a:pPr>
            <a:r>
              <a:rPr sz="3200" b="1" i="0">
                <a:solidFill>
                  <a:srgbClr val="1C7293"/>
                </a:solidFill>
                <a:latin typeface="Cambria"/>
              </a:rPr>
              <a:t>4/6</a:t>
            </a:r>
          </a:p>
        </p:txBody>
      </p:sp>
      <p:sp>
        <p:nvSpPr>
          <p:cNvPr id="7" name="TextBox 6"/>
          <p:cNvSpPr txBox="1"/>
          <p:nvPr/>
        </p:nvSpPr>
        <p:spPr>
          <a:xfrm>
            <a:off x="3108960" y="2103120"/>
            <a:ext cx="2011680" cy="457200"/>
          </a:xfrm>
          <a:prstGeom prst="rect">
            <a:avLst/>
          </a:prstGeom>
          <a:noFill/>
        </p:spPr>
        <p:txBody>
          <a:bodyPr wrap="square" lIns="0" rIns="0" tIns="0" bIns="0">
            <a:noAutofit/>
          </a:bodyPr>
          <a:lstStyle/>
          <a:p>
            <a:pPr algn="l">
              <a:lnSpc>
                <a:spcPct val="105000"/>
              </a:lnSpc>
            </a:pPr>
            <a:r>
              <a:rPr sz="950" b="0" i="0">
                <a:solidFill>
                  <a:srgbClr val="5A6E75"/>
                </a:solidFill>
                <a:latin typeface="Calibri"/>
              </a:rPr>
              <a:t>completed the image-ad task independently</a:t>
            </a:r>
          </a:p>
        </p:txBody>
      </p:sp>
      <p:sp>
        <p:nvSpPr>
          <p:cNvPr id="8" name="TextBox 7"/>
          <p:cNvSpPr txBox="1"/>
          <p:nvPr/>
        </p:nvSpPr>
        <p:spPr>
          <a:xfrm>
            <a:off x="5394960" y="1600200"/>
            <a:ext cx="2011680" cy="502920"/>
          </a:xfrm>
          <a:prstGeom prst="rect">
            <a:avLst/>
          </a:prstGeom>
          <a:noFill/>
        </p:spPr>
        <p:txBody>
          <a:bodyPr wrap="square" lIns="0" rIns="0" tIns="0" bIns="0">
            <a:noAutofit/>
          </a:bodyPr>
          <a:lstStyle/>
          <a:p>
            <a:pPr algn="l">
              <a:lnSpc>
                <a:spcPct val="105000"/>
              </a:lnSpc>
            </a:pPr>
            <a:r>
              <a:rPr sz="3200" b="1" i="0">
                <a:solidFill>
                  <a:srgbClr val="1C7293"/>
                </a:solidFill>
                <a:latin typeface="Cambria"/>
              </a:rPr>
              <a:t>6/6</a:t>
            </a:r>
          </a:p>
        </p:txBody>
      </p:sp>
      <p:sp>
        <p:nvSpPr>
          <p:cNvPr id="9" name="TextBox 8"/>
          <p:cNvSpPr txBox="1"/>
          <p:nvPr/>
        </p:nvSpPr>
        <p:spPr>
          <a:xfrm>
            <a:off x="5394960" y="2103120"/>
            <a:ext cx="2011680" cy="457200"/>
          </a:xfrm>
          <a:prstGeom prst="rect">
            <a:avLst/>
          </a:prstGeom>
          <a:noFill/>
        </p:spPr>
        <p:txBody>
          <a:bodyPr wrap="square" lIns="0" rIns="0" tIns="0" bIns="0">
            <a:noAutofit/>
          </a:bodyPr>
          <a:lstStyle/>
          <a:p>
            <a:pPr algn="l">
              <a:lnSpc>
                <a:spcPct val="105000"/>
              </a:lnSpc>
            </a:pPr>
            <a:r>
              <a:rPr sz="950" b="0" i="0">
                <a:solidFill>
                  <a:srgbClr val="5A6E75"/>
                </a:solidFill>
                <a:latin typeface="Calibri"/>
              </a:rPr>
              <a:t>identified the main persuasion tactic shown</a:t>
            </a:r>
          </a:p>
        </p:txBody>
      </p:sp>
      <p:sp>
        <p:nvSpPr>
          <p:cNvPr id="10" name="TextBox 9"/>
          <p:cNvSpPr txBox="1"/>
          <p:nvPr/>
        </p:nvSpPr>
        <p:spPr>
          <a:xfrm>
            <a:off x="7680960" y="1600200"/>
            <a:ext cx="2011680" cy="502920"/>
          </a:xfrm>
          <a:prstGeom prst="rect">
            <a:avLst/>
          </a:prstGeom>
          <a:noFill/>
        </p:spPr>
        <p:txBody>
          <a:bodyPr wrap="square" lIns="0" rIns="0" tIns="0" bIns="0">
            <a:noAutofit/>
          </a:bodyPr>
          <a:lstStyle/>
          <a:p>
            <a:pPr algn="l">
              <a:lnSpc>
                <a:spcPct val="105000"/>
              </a:lnSpc>
            </a:pPr>
            <a:r>
              <a:rPr sz="3200" b="1" i="0">
                <a:solidFill>
                  <a:srgbClr val="1C7293"/>
                </a:solidFill>
                <a:latin typeface="Cambria"/>
              </a:rPr>
              <a:t>5/6</a:t>
            </a:r>
          </a:p>
        </p:txBody>
      </p:sp>
      <p:sp>
        <p:nvSpPr>
          <p:cNvPr id="11" name="TextBox 10"/>
          <p:cNvSpPr txBox="1"/>
          <p:nvPr/>
        </p:nvSpPr>
        <p:spPr>
          <a:xfrm>
            <a:off x="7680960" y="2103120"/>
            <a:ext cx="2011680" cy="457200"/>
          </a:xfrm>
          <a:prstGeom prst="rect">
            <a:avLst/>
          </a:prstGeom>
          <a:noFill/>
        </p:spPr>
        <p:txBody>
          <a:bodyPr wrap="square" lIns="0" rIns="0" tIns="0" bIns="0">
            <a:noAutofit/>
          </a:bodyPr>
          <a:lstStyle/>
          <a:p>
            <a:pPr algn="l">
              <a:lnSpc>
                <a:spcPct val="105000"/>
              </a:lnSpc>
            </a:pPr>
            <a:r>
              <a:rPr sz="950" b="0" i="0">
                <a:solidFill>
                  <a:srgbClr val="5A6E75"/>
                </a:solidFill>
                <a:latin typeface="Calibri"/>
              </a:rPr>
              <a:t>rated the plain-language explanation as useful</a:t>
            </a:r>
          </a:p>
        </p:txBody>
      </p:sp>
      <p:sp>
        <p:nvSpPr>
          <p:cNvPr id="12" name="TextBox 11"/>
          <p:cNvSpPr txBox="1"/>
          <p:nvPr/>
        </p:nvSpPr>
        <p:spPr>
          <a:xfrm>
            <a:off x="822960" y="3017520"/>
            <a:ext cx="5486400" cy="219456"/>
          </a:xfrm>
          <a:prstGeom prst="rect">
            <a:avLst/>
          </a:prstGeom>
          <a:noFill/>
        </p:spPr>
        <p:txBody>
          <a:bodyPr wrap="square" lIns="0" rIns="0" tIns="0" bIns="0">
            <a:noAutofit/>
          </a:bodyPr>
          <a:lstStyle/>
          <a:p>
            <a:pPr algn="l">
              <a:lnSpc>
                <a:spcPct val="105000"/>
              </a:lnSpc>
            </a:pPr>
            <a:r>
              <a:rPr sz="950" b="1" i="0">
                <a:solidFill>
                  <a:srgbClr val="1C7293"/>
                </a:solidFill>
                <a:latin typeface="Calibri"/>
              </a:rPr>
              <a:t>WHAT IT CHANGED IN THE PRODUCT</a:t>
            </a:r>
          </a:p>
        </p:txBody>
      </p:sp>
      <p:sp>
        <p:nvSpPr>
          <p:cNvPr id="13" name="Oval 12"/>
          <p:cNvSpPr/>
          <p:nvPr/>
        </p:nvSpPr>
        <p:spPr>
          <a:xfrm>
            <a:off x="822960" y="3360420"/>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310128"/>
            <a:ext cx="5376672" cy="530352"/>
          </a:xfrm>
          <a:prstGeom prst="rect">
            <a:avLst/>
          </a:prstGeom>
          <a:noFill/>
        </p:spPr>
        <p:txBody>
          <a:bodyPr wrap="square" lIns="0" rIns="0" tIns="0" bIns="0">
            <a:noAutofit/>
          </a:bodyPr>
          <a:lstStyle/>
          <a:p>
            <a:pPr>
              <a:lnSpc>
                <a:spcPct val="112000"/>
              </a:lnSpc>
            </a:pPr>
            <a:r>
              <a:rPr sz="1050" b="1" i="0">
                <a:solidFill>
                  <a:srgbClr val="16323C"/>
                </a:solidFill>
                <a:latin typeface="Calibri"/>
              </a:rPr>
              <a:t>Kept the extracted-text read-back front and center </a:t>
            </a:r>
            <a:r>
              <a:rPr sz="1050" b="0" i="0">
                <a:solidFill>
                  <a:srgbClr val="5A6E75"/>
                </a:solidFill>
                <a:latin typeface="Calibri"/>
              </a:rPr>
              <a:t>— seeing "what the system read" was the most-praised feature; it stays a first-class UI element.</a:t>
            </a:r>
          </a:p>
        </p:txBody>
      </p:sp>
      <p:sp>
        <p:nvSpPr>
          <p:cNvPr id="15" name="Oval 14"/>
          <p:cNvSpPr/>
          <p:nvPr/>
        </p:nvSpPr>
        <p:spPr>
          <a:xfrm>
            <a:off x="822960" y="4091939"/>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041648"/>
            <a:ext cx="5376672" cy="530352"/>
          </a:xfrm>
          <a:prstGeom prst="rect">
            <a:avLst/>
          </a:prstGeom>
          <a:noFill/>
        </p:spPr>
        <p:txBody>
          <a:bodyPr wrap="square" lIns="0" rIns="0" tIns="0" bIns="0">
            <a:noAutofit/>
          </a:bodyPr>
          <a:lstStyle/>
          <a:p>
            <a:pPr>
              <a:lnSpc>
                <a:spcPct val="112000"/>
              </a:lnSpc>
            </a:pPr>
            <a:r>
              <a:rPr sz="1050" b="1" i="0">
                <a:solidFill>
                  <a:srgbClr val="16323C"/>
                </a:solidFill>
                <a:latin typeface="Calibri"/>
              </a:rPr>
              <a:t>Simplifying "model pick" wording </a:t>
            </a:r>
            <a:r>
              <a:rPr sz="1050" b="0" i="0">
                <a:solidFill>
                  <a:srgbClr val="5A6E75"/>
                </a:solidFill>
                <a:latin typeface="Calibri"/>
              </a:rPr>
              <a:t>— jargon was the main stumbling block, not the workflow.</a:t>
            </a:r>
          </a:p>
        </p:txBody>
      </p:sp>
      <p:sp>
        <p:nvSpPr>
          <p:cNvPr id="17" name="Oval 16"/>
          <p:cNvSpPr/>
          <p:nvPr/>
        </p:nvSpPr>
        <p:spPr>
          <a:xfrm>
            <a:off x="822960" y="4713731"/>
            <a:ext cx="82296" cy="822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4663440"/>
            <a:ext cx="5376672" cy="530352"/>
          </a:xfrm>
          <a:prstGeom prst="rect">
            <a:avLst/>
          </a:prstGeom>
          <a:noFill/>
        </p:spPr>
        <p:txBody>
          <a:bodyPr wrap="square" lIns="0" rIns="0" tIns="0" bIns="0">
            <a:noAutofit/>
          </a:bodyPr>
          <a:lstStyle/>
          <a:p>
            <a:pPr>
              <a:lnSpc>
                <a:spcPct val="112000"/>
              </a:lnSpc>
            </a:pPr>
            <a:r>
              <a:rPr sz="1050" b="1" i="0">
                <a:solidFill>
                  <a:srgbClr val="16323C"/>
                </a:solidFill>
                <a:latin typeface="Calibri"/>
              </a:rPr>
              <a:t>Rewriting low-confidence copy </a:t>
            </a:r>
            <a:r>
              <a:rPr sz="1050" b="0" i="0">
                <a:solidFill>
                  <a:srgbClr val="5A6E75"/>
                </a:solidFill>
                <a:latin typeface="Calibri"/>
              </a:rPr>
              <a:t>so "no strong prediction" can't be read as "verified safe."</a:t>
            </a:r>
          </a:p>
        </p:txBody>
      </p:sp>
      <p:sp>
        <p:nvSpPr>
          <p:cNvPr id="19" name="Rounded Rectangle 18"/>
          <p:cNvSpPr/>
          <p:nvPr/>
        </p:nvSpPr>
        <p:spPr>
          <a:xfrm>
            <a:off x="6766560" y="3017520"/>
            <a:ext cx="4572000" cy="2377440"/>
          </a:xfrm>
          <a:prstGeom prst="roundRect">
            <a:avLst>
              <a:gd name="adj" fmla="val 8000"/>
            </a:avLst>
          </a:prstGeom>
          <a:solidFill>
            <a:srgbClr val="ED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0" y="3291840"/>
            <a:ext cx="4114800" cy="219456"/>
          </a:xfrm>
          <a:prstGeom prst="rect">
            <a:avLst/>
          </a:prstGeom>
          <a:noFill/>
        </p:spPr>
        <p:txBody>
          <a:bodyPr wrap="square" lIns="0" rIns="0" tIns="0" bIns="0">
            <a:noAutofit/>
          </a:bodyPr>
          <a:lstStyle/>
          <a:p>
            <a:pPr algn="l">
              <a:lnSpc>
                <a:spcPct val="105000"/>
              </a:lnSpc>
            </a:pPr>
            <a:r>
              <a:rPr sz="950" b="1" i="0">
                <a:solidFill>
                  <a:srgbClr val="1C7293"/>
                </a:solidFill>
                <a:latin typeface="Calibri"/>
              </a:rPr>
              <a:t>EARLIER FIELD RESEARCH SHAPED THE DATA, TOO</a:t>
            </a:r>
          </a:p>
        </p:txBody>
      </p:sp>
      <p:sp>
        <p:nvSpPr>
          <p:cNvPr id="21" name="TextBox 20"/>
          <p:cNvSpPr txBox="1"/>
          <p:nvPr/>
        </p:nvSpPr>
        <p:spPr>
          <a:xfrm>
            <a:off x="7040880" y="3611880"/>
            <a:ext cx="4023360" cy="502920"/>
          </a:xfrm>
          <a:prstGeom prst="rect">
            <a:avLst/>
          </a:prstGeom>
          <a:noFill/>
        </p:spPr>
        <p:txBody>
          <a:bodyPr wrap="square" lIns="0" rIns="0" tIns="0" bIns="0">
            <a:noAutofit/>
          </a:bodyPr>
          <a:lstStyle/>
          <a:p>
            <a:pPr algn="l">
              <a:lnSpc>
                <a:spcPct val="112000"/>
              </a:lnSpc>
            </a:pPr>
            <a:r>
              <a:rPr sz="1050" b="0" i="0">
                <a:solidFill>
                  <a:srgbClr val="16323C"/>
                </a:solidFill>
                <a:latin typeface="Calibri"/>
              </a:rPr>
              <a:t>Week-8 outreach in ad comment sections: repeated phrases are what raise suspicion —</a:t>
            </a:r>
          </a:p>
        </p:txBody>
      </p:sp>
      <p:sp>
        <p:nvSpPr>
          <p:cNvPr id="22" name="TextBox 21"/>
          <p:cNvSpPr txBox="1"/>
          <p:nvPr/>
        </p:nvSpPr>
        <p:spPr>
          <a:xfrm>
            <a:off x="7040880" y="4206240"/>
            <a:ext cx="4023360" cy="457200"/>
          </a:xfrm>
          <a:prstGeom prst="rect">
            <a:avLst/>
          </a:prstGeom>
          <a:noFill/>
        </p:spPr>
        <p:txBody>
          <a:bodyPr wrap="square" lIns="0" rIns="0" tIns="0" bIns="0">
            <a:noAutofit/>
          </a:bodyPr>
          <a:lstStyle/>
          <a:p>
            <a:pPr algn="l">
              <a:lnSpc>
                <a:spcPct val="110000"/>
              </a:lnSpc>
            </a:pPr>
            <a:r>
              <a:rPr sz="1200" b="0" i="1">
                <a:solidFill>
                  <a:srgbClr val="16323C"/>
                </a:solidFill>
                <a:latin typeface="Cambria"/>
              </a:rPr>
              <a:t>"As soon as I hear or see 'limited stock', I just scroll away."</a:t>
            </a:r>
          </a:p>
        </p:txBody>
      </p:sp>
      <p:sp>
        <p:nvSpPr>
          <p:cNvPr id="23" name="TextBox 22"/>
          <p:cNvSpPr txBox="1"/>
          <p:nvPr/>
        </p:nvSpPr>
        <p:spPr>
          <a:xfrm>
            <a:off x="7040880" y="4754880"/>
            <a:ext cx="4023360" cy="457200"/>
          </a:xfrm>
          <a:prstGeom prst="rect">
            <a:avLst/>
          </a:prstGeom>
          <a:noFill/>
        </p:spPr>
        <p:txBody>
          <a:bodyPr wrap="square" lIns="0" rIns="0" tIns="0" bIns="0">
            <a:noAutofit/>
          </a:bodyPr>
          <a:lstStyle/>
          <a:p>
            <a:pPr algn="l">
              <a:lnSpc>
                <a:spcPct val="110000"/>
              </a:lnSpc>
            </a:pPr>
            <a:r>
              <a:rPr sz="950" b="0" i="0">
                <a:solidFill>
                  <a:srgbClr val="5A6E75"/>
                </a:solidFill>
                <a:latin typeface="Calibri"/>
              </a:rPr>
              <a:t>That finding drove which trigger phrases and tactics our dataset curated first.</a:t>
            </a:r>
          </a:p>
        </p:txBody>
      </p:sp>
      <p:sp>
        <p:nvSpPr>
          <p:cNvPr id="24" name="Rounded Rectangle 23"/>
          <p:cNvSpPr/>
          <p:nvPr/>
        </p:nvSpPr>
        <p:spPr>
          <a:xfrm>
            <a:off x="822960" y="5669280"/>
            <a:ext cx="10543032" cy="777240"/>
          </a:xfrm>
          <a:prstGeom prst="roundRect">
            <a:avLst>
              <a:gd name="adj" fmla="val 8000"/>
            </a:avLst>
          </a:prstGeom>
          <a:solidFill>
            <a:srgbClr val="ED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852160"/>
            <a:ext cx="9966960" cy="502920"/>
          </a:xfrm>
          <a:prstGeom prst="rect">
            <a:avLst/>
          </a:prstGeom>
          <a:noFill/>
        </p:spPr>
        <p:txBody>
          <a:bodyPr wrap="square" lIns="0" rIns="0" tIns="0" bIns="0">
            <a:noAutofit/>
          </a:bodyPr>
          <a:lstStyle/>
          <a:p>
            <a:pPr>
              <a:lnSpc>
                <a:spcPct val="112000"/>
              </a:lnSpc>
            </a:pPr>
            <a:r>
              <a:rPr sz="1050" b="1" i="0">
                <a:solidFill>
                  <a:srgbClr val="16323C"/>
                </a:solidFill>
                <a:latin typeface="Calibri"/>
              </a:rPr>
              <a:t>Scope, honestly stated: </a:t>
            </a:r>
            <a:r>
              <a:rPr sz="1050" b="0" i="0">
                <a:solidFill>
                  <a:srgbClr val="5A6E75"/>
                </a:solidFill>
                <a:latin typeface="Calibri"/>
              </a:rPr>
              <a:t>a six-person, single-session study shows the workflow is learnable and the output understandable — it cannot measure long-term trust or behavior change. A larger, more digitally diverse 60+ cohort is the next validation step.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457200"/>
            <a:ext cx="10515600" cy="256032"/>
          </a:xfrm>
          <a:prstGeom prst="rect">
            <a:avLst/>
          </a:prstGeom>
          <a:noFill/>
        </p:spPr>
        <p:txBody>
          <a:bodyPr wrap="square" lIns="0" rIns="0" tIns="0" bIns="0">
            <a:noAutofit/>
          </a:bodyPr>
          <a:lstStyle/>
          <a:p>
            <a:pPr algn="l">
              <a:lnSpc>
                <a:spcPct val="105000"/>
              </a:lnSpc>
            </a:pPr>
            <a:r>
              <a:rPr sz="1000" b="1" i="0">
                <a:solidFill>
                  <a:srgbClr val="1C7293"/>
                </a:solidFill>
                <a:latin typeface="Calibri"/>
              </a:rPr>
              <a:t>AREA 5 · ETHICS AND LIMITATIONS</a:t>
            </a:r>
          </a:p>
        </p:txBody>
      </p:sp>
      <p:sp>
        <p:nvSpPr>
          <p:cNvPr id="3" name="TextBox 2"/>
          <p:cNvSpPr txBox="1"/>
          <p:nvPr/>
        </p:nvSpPr>
        <p:spPr>
          <a:xfrm>
            <a:off x="822960" y="749808"/>
            <a:ext cx="10515600" cy="566928"/>
          </a:xfrm>
          <a:prstGeom prst="rect">
            <a:avLst/>
          </a:prstGeom>
          <a:noFill/>
        </p:spPr>
        <p:txBody>
          <a:bodyPr wrap="square" lIns="0" rIns="0" tIns="0" bIns="0">
            <a:noAutofit/>
          </a:bodyPr>
          <a:lstStyle/>
          <a:p>
            <a:pPr algn="l">
              <a:lnSpc>
                <a:spcPct val="105000"/>
              </a:lnSpc>
            </a:pPr>
            <a:r>
              <a:rPr sz="2600" b="1" i="0">
                <a:solidFill>
                  <a:srgbClr val="16323C"/>
                </a:solidFill>
                <a:latin typeface="Cambria"/>
              </a:rPr>
              <a:t>Built to inform, not to judge</a:t>
            </a:r>
          </a:p>
        </p:txBody>
      </p:sp>
      <p:sp>
        <p:nvSpPr>
          <p:cNvPr id="4" name="Rounded Rectangle 3"/>
          <p:cNvSpPr/>
          <p:nvPr/>
        </p:nvSpPr>
        <p:spPr>
          <a:xfrm>
            <a:off x="822960" y="1554480"/>
            <a:ext cx="4919472" cy="1691640"/>
          </a:xfrm>
          <a:prstGeom prst="roundRect">
            <a:avLst>
              <a:gd name="adj" fmla="val 8000"/>
            </a:avLst>
          </a:prstGeom>
          <a:solidFill>
            <a:srgbClr val="ED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755648"/>
            <a:ext cx="4206240" cy="219456"/>
          </a:xfrm>
          <a:prstGeom prst="rect">
            <a:avLst/>
          </a:prstGeom>
          <a:noFill/>
        </p:spPr>
        <p:txBody>
          <a:bodyPr wrap="square" lIns="0" rIns="0" tIns="0" bIns="0">
            <a:noAutofit/>
          </a:bodyPr>
          <a:lstStyle/>
          <a:p>
            <a:pPr algn="l">
              <a:lnSpc>
                <a:spcPct val="105000"/>
              </a:lnSpc>
            </a:pPr>
            <a:r>
              <a:rPr sz="950" b="1" i="0">
                <a:solidFill>
                  <a:srgbClr val="1C7293"/>
                </a:solidFill>
                <a:latin typeface="Calibri"/>
              </a:rPr>
              <a:t>DATA RIGHTS</a:t>
            </a:r>
          </a:p>
        </p:txBody>
      </p:sp>
      <p:sp>
        <p:nvSpPr>
          <p:cNvPr id="6" name="TextBox 5"/>
          <p:cNvSpPr txBox="1"/>
          <p:nvPr/>
        </p:nvSpPr>
        <p:spPr>
          <a:xfrm>
            <a:off x="1097280" y="2029967"/>
            <a:ext cx="4389120" cy="1143000"/>
          </a:xfrm>
          <a:prstGeom prst="rect">
            <a:avLst/>
          </a:prstGeom>
          <a:noFill/>
        </p:spPr>
        <p:txBody>
          <a:bodyPr wrap="square" lIns="0" rIns="0" tIns="0" bIns="0">
            <a:noAutofit/>
          </a:bodyPr>
          <a:lstStyle/>
          <a:p>
            <a:pPr algn="l">
              <a:lnSpc>
                <a:spcPct val="113000"/>
              </a:lnSpc>
            </a:pPr>
            <a:r>
              <a:rPr sz="1000" b="0" i="0">
                <a:solidFill>
                  <a:srgbClr val="16323C"/>
                </a:solidFill>
                <a:latin typeface="Calibri"/>
              </a:rPr>
              <a:t>Training data: our collected public ad texts plus the published Mathur et al. dark-patterns research corpus, credited. Labels are educational annotations — never "scam," never a legal claim.</a:t>
            </a:r>
          </a:p>
        </p:txBody>
      </p:sp>
      <p:sp>
        <p:nvSpPr>
          <p:cNvPr id="7" name="Rounded Rectangle 6"/>
          <p:cNvSpPr/>
          <p:nvPr/>
        </p:nvSpPr>
        <p:spPr>
          <a:xfrm>
            <a:off x="6446520" y="1554480"/>
            <a:ext cx="4919472" cy="1691640"/>
          </a:xfrm>
          <a:prstGeom prst="roundRect">
            <a:avLst>
              <a:gd name="adj" fmla="val 8000"/>
            </a:avLst>
          </a:prstGeom>
          <a:solidFill>
            <a:srgbClr val="ED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20840" y="1755648"/>
            <a:ext cx="4206240" cy="219456"/>
          </a:xfrm>
          <a:prstGeom prst="rect">
            <a:avLst/>
          </a:prstGeom>
          <a:noFill/>
        </p:spPr>
        <p:txBody>
          <a:bodyPr wrap="square" lIns="0" rIns="0" tIns="0" bIns="0">
            <a:noAutofit/>
          </a:bodyPr>
          <a:lstStyle/>
          <a:p>
            <a:pPr algn="l">
              <a:lnSpc>
                <a:spcPct val="105000"/>
              </a:lnSpc>
            </a:pPr>
            <a:r>
              <a:rPr sz="950" b="1" i="0">
                <a:solidFill>
                  <a:srgbClr val="1C7293"/>
                </a:solidFill>
                <a:latin typeface="Calibri"/>
              </a:rPr>
              <a:t>BIAS</a:t>
            </a:r>
          </a:p>
        </p:txBody>
      </p:sp>
      <p:sp>
        <p:nvSpPr>
          <p:cNvPr id="9" name="TextBox 8"/>
          <p:cNvSpPr txBox="1"/>
          <p:nvPr/>
        </p:nvSpPr>
        <p:spPr>
          <a:xfrm>
            <a:off x="6720840" y="2029967"/>
            <a:ext cx="4389120" cy="1143000"/>
          </a:xfrm>
          <a:prstGeom prst="rect">
            <a:avLst/>
          </a:prstGeom>
          <a:noFill/>
        </p:spPr>
        <p:txBody>
          <a:bodyPr wrap="square" lIns="0" rIns="0" tIns="0" bIns="0">
            <a:noAutofit/>
          </a:bodyPr>
          <a:lstStyle/>
          <a:p>
            <a:pPr algn="l">
              <a:lnSpc>
                <a:spcPct val="113000"/>
              </a:lnSpc>
            </a:pPr>
            <a:r>
              <a:rPr sz="1000" b="0" i="0">
                <a:solidFill>
                  <a:srgbClr val="16323C"/>
                </a:solidFill>
                <a:latin typeface="Calibri"/>
              </a:rPr>
              <a:t>The training distribution under-represents whole genres (income-claim ads went 0-for-4). Strong held-out scores are not evidence the model works on every ad — we say so, on stage and in the report.</a:t>
            </a:r>
          </a:p>
        </p:txBody>
      </p:sp>
      <p:sp>
        <p:nvSpPr>
          <p:cNvPr id="10" name="Rounded Rectangle 9"/>
          <p:cNvSpPr/>
          <p:nvPr/>
        </p:nvSpPr>
        <p:spPr>
          <a:xfrm>
            <a:off x="822960" y="3429000"/>
            <a:ext cx="4919472" cy="1691640"/>
          </a:xfrm>
          <a:prstGeom prst="roundRect">
            <a:avLst>
              <a:gd name="adj" fmla="val 8000"/>
            </a:avLst>
          </a:prstGeom>
          <a:solidFill>
            <a:srgbClr val="ED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630168"/>
            <a:ext cx="4206240" cy="219456"/>
          </a:xfrm>
          <a:prstGeom prst="rect">
            <a:avLst/>
          </a:prstGeom>
          <a:noFill/>
        </p:spPr>
        <p:txBody>
          <a:bodyPr wrap="square" lIns="0" rIns="0" tIns="0" bIns="0">
            <a:noAutofit/>
          </a:bodyPr>
          <a:lstStyle/>
          <a:p>
            <a:pPr algn="l">
              <a:lnSpc>
                <a:spcPct val="105000"/>
              </a:lnSpc>
            </a:pPr>
            <a:r>
              <a:rPr sz="950" b="1" i="0">
                <a:solidFill>
                  <a:srgbClr val="1C7293"/>
                </a:solidFill>
                <a:latin typeface="Calibri"/>
              </a:rPr>
              <a:t>PRIVACY</a:t>
            </a:r>
          </a:p>
        </p:txBody>
      </p:sp>
      <p:sp>
        <p:nvSpPr>
          <p:cNvPr id="12" name="TextBox 11"/>
          <p:cNvSpPr txBox="1"/>
          <p:nvPr/>
        </p:nvSpPr>
        <p:spPr>
          <a:xfrm>
            <a:off x="1097280" y="3904487"/>
            <a:ext cx="4389120" cy="1143000"/>
          </a:xfrm>
          <a:prstGeom prst="rect">
            <a:avLst/>
          </a:prstGeom>
          <a:noFill/>
        </p:spPr>
        <p:txBody>
          <a:bodyPr wrap="square" lIns="0" rIns="0" tIns="0" bIns="0">
            <a:noAutofit/>
          </a:bodyPr>
          <a:lstStyle/>
          <a:p>
            <a:pPr algn="l">
              <a:lnSpc>
                <a:spcPct val="113000"/>
              </a:lnSpc>
            </a:pPr>
            <a:r>
              <a:rPr sz="1000" b="0" i="0">
                <a:solidFill>
                  <a:srgbClr val="16323C"/>
                </a:solidFill>
                <a:latin typeface="Calibri"/>
              </a:rPr>
              <a:t>Screenshots can contain more than the ad. The RapidOCR path runs fully on-device; VLM and review search leave the device only when API keys are configured — and that boundary must be disclosed to users. Nothing is retained.</a:t>
            </a:r>
          </a:p>
        </p:txBody>
      </p:sp>
      <p:sp>
        <p:nvSpPr>
          <p:cNvPr id="13" name="Rounded Rectangle 12"/>
          <p:cNvSpPr/>
          <p:nvPr/>
        </p:nvSpPr>
        <p:spPr>
          <a:xfrm>
            <a:off x="6446520" y="3429000"/>
            <a:ext cx="4919472" cy="1691640"/>
          </a:xfrm>
          <a:prstGeom prst="roundRect">
            <a:avLst>
              <a:gd name="adj" fmla="val 8000"/>
            </a:avLst>
          </a:prstGeom>
          <a:solidFill>
            <a:srgbClr val="FB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40" y="3630168"/>
            <a:ext cx="4206240" cy="219456"/>
          </a:xfrm>
          <a:prstGeom prst="rect">
            <a:avLst/>
          </a:prstGeom>
          <a:noFill/>
        </p:spPr>
        <p:txBody>
          <a:bodyPr wrap="square" lIns="0" rIns="0" tIns="0" bIns="0">
            <a:noAutofit/>
          </a:bodyPr>
          <a:lstStyle/>
          <a:p>
            <a:pPr algn="l">
              <a:lnSpc>
                <a:spcPct val="105000"/>
              </a:lnSpc>
            </a:pPr>
            <a:r>
              <a:rPr sz="950" b="1" i="0">
                <a:solidFill>
                  <a:srgbClr val="8F5E12"/>
                </a:solidFill>
                <a:latin typeface="Calibri"/>
              </a:rPr>
              <a:t>WHEN THE MODEL IS WRONG</a:t>
            </a:r>
          </a:p>
        </p:txBody>
      </p:sp>
      <p:sp>
        <p:nvSpPr>
          <p:cNvPr id="15" name="TextBox 14"/>
          <p:cNvSpPr txBox="1"/>
          <p:nvPr/>
        </p:nvSpPr>
        <p:spPr>
          <a:xfrm>
            <a:off x="6720840" y="3904487"/>
            <a:ext cx="4389120" cy="1143000"/>
          </a:xfrm>
          <a:prstGeom prst="rect">
            <a:avLst/>
          </a:prstGeom>
          <a:noFill/>
        </p:spPr>
        <p:txBody>
          <a:bodyPr wrap="square" lIns="0" rIns="0" tIns="0" bIns="0">
            <a:noAutofit/>
          </a:bodyPr>
          <a:lstStyle/>
          <a:p>
            <a:pPr algn="l">
              <a:lnSpc>
                <a:spcPct val="113000"/>
              </a:lnSpc>
            </a:pPr>
            <a:r>
              <a:rPr sz="1000" b="0" i="0">
                <a:solidFill>
                  <a:srgbClr val="16323C"/>
                </a:solidFill>
                <a:latin typeface="Calibri"/>
              </a:rPr>
              <a:t>High-confidence errors happen ("Urgency, 98%", no deadline). Mitigations: the &lt;60% guard prefers silence to false alarms; every finding carries checkable evidence; the review layer excludes advertiser-owned sources. AdInsight supports judgment — it never replaces it.</a:t>
            </a:r>
          </a:p>
        </p:txBody>
      </p:sp>
      <p:sp>
        <p:nvSpPr>
          <p:cNvPr id="16" name="TextBox 15"/>
          <p:cNvSpPr txBox="1"/>
          <p:nvPr/>
        </p:nvSpPr>
        <p:spPr>
          <a:xfrm>
            <a:off x="822960" y="5532120"/>
            <a:ext cx="10543032" cy="457200"/>
          </a:xfrm>
          <a:prstGeom prst="rect">
            <a:avLst/>
          </a:prstGeom>
          <a:noFill/>
        </p:spPr>
        <p:txBody>
          <a:bodyPr wrap="square" lIns="0" rIns="0" tIns="0" bIns="0">
            <a:noAutofit/>
          </a:bodyPr>
          <a:lstStyle/>
          <a:p>
            <a:pPr algn="ctr">
              <a:lnSpc>
                <a:spcPct val="105000"/>
              </a:lnSpc>
            </a:pPr>
            <a:r>
              <a:rPr sz="1500" b="0" i="1">
                <a:solidFill>
                  <a:srgbClr val="0E3A47"/>
                </a:solidFill>
                <a:latin typeface="Cambria"/>
              </a:rPr>
              <a:t>"AdInsight gives users a reason to slow down — the decision stays with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3A47"/>
        </a:solidFill>
        <a:effectLst/>
      </p:bgPr>
    </p:bg>
    <p:spTree>
      <p:nvGrpSpPr>
        <p:cNvPr id="1" name=""/>
        <p:cNvGrpSpPr/>
        <p:nvPr/>
      </p:nvGrpSpPr>
      <p:grpSpPr/>
      <p:sp>
        <p:nvSpPr>
          <p:cNvPr id="2" name="TextBox 1"/>
          <p:cNvSpPr txBox="1"/>
          <p:nvPr/>
        </p:nvSpPr>
        <p:spPr>
          <a:xfrm>
            <a:off x="822960" y="548640"/>
            <a:ext cx="7315200" cy="237744"/>
          </a:xfrm>
          <a:prstGeom prst="rect">
            <a:avLst/>
          </a:prstGeom>
          <a:noFill/>
        </p:spPr>
        <p:txBody>
          <a:bodyPr wrap="square" lIns="0" rIns="0" tIns="0" bIns="0">
            <a:noAutofit/>
          </a:bodyPr>
          <a:lstStyle/>
          <a:p>
            <a:pPr algn="l">
              <a:lnSpc>
                <a:spcPct val="105000"/>
              </a:lnSpc>
            </a:pPr>
            <a:r>
              <a:rPr sz="1000" b="1" i="0">
                <a:solidFill>
                  <a:srgbClr val="8FB6BF"/>
                </a:solidFill>
                <a:latin typeface="Calibri"/>
              </a:rPr>
              <a:t>WHAT WE LEARNED</a:t>
            </a:r>
          </a:p>
        </p:txBody>
      </p:sp>
      <p:sp>
        <p:nvSpPr>
          <p:cNvPr id="3" name="TextBox 2"/>
          <p:cNvSpPr txBox="1"/>
          <p:nvPr/>
        </p:nvSpPr>
        <p:spPr>
          <a:xfrm>
            <a:off x="822960" y="896112"/>
            <a:ext cx="10515600" cy="640080"/>
          </a:xfrm>
          <a:prstGeom prst="rect">
            <a:avLst/>
          </a:prstGeom>
          <a:noFill/>
        </p:spPr>
        <p:txBody>
          <a:bodyPr wrap="square" lIns="0" rIns="0" tIns="0" bIns="0">
            <a:noAutofit/>
          </a:bodyPr>
          <a:lstStyle/>
          <a:p>
            <a:pPr algn="l">
              <a:lnSpc>
                <a:spcPct val="105000"/>
              </a:lnSpc>
            </a:pPr>
            <a:r>
              <a:rPr sz="3000" b="1" i="0">
                <a:solidFill>
                  <a:srgbClr val="FFFFFF"/>
                </a:solidFill>
                <a:latin typeface="Cambria"/>
              </a:rPr>
              <a:t>Three lessons we'd defend</a:t>
            </a:r>
          </a:p>
        </p:txBody>
      </p:sp>
      <p:sp>
        <p:nvSpPr>
          <p:cNvPr id="4" name="Rounded Rectangle 3"/>
          <p:cNvSpPr/>
          <p:nvPr/>
        </p:nvSpPr>
        <p:spPr>
          <a:xfrm>
            <a:off x="822960" y="1874519"/>
            <a:ext cx="3474720" cy="1600200"/>
          </a:xfrm>
          <a:prstGeom prst="roundRect">
            <a:avLst>
              <a:gd name="adj" fmla="val 8000"/>
            </a:avLst>
          </a:prstGeom>
          <a:solidFill>
            <a:srgbClr val="154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0704" y="2103120"/>
            <a:ext cx="3017520" cy="502920"/>
          </a:xfrm>
          <a:prstGeom prst="rect">
            <a:avLst/>
          </a:prstGeom>
          <a:noFill/>
        </p:spPr>
        <p:txBody>
          <a:bodyPr wrap="square" lIns="0" rIns="0" tIns="0" bIns="0">
            <a:noAutofit/>
          </a:bodyPr>
          <a:lstStyle/>
          <a:p>
            <a:pPr algn="l">
              <a:lnSpc>
                <a:spcPct val="105000"/>
              </a:lnSpc>
            </a:pPr>
            <a:r>
              <a:rPr sz="1400" b="1" i="0">
                <a:solidFill>
                  <a:srgbClr val="E8A33D"/>
                </a:solidFill>
                <a:latin typeface="Cambria"/>
              </a:rPr>
              <a:t>1 · Held-out ≠ real world</a:t>
            </a:r>
          </a:p>
        </p:txBody>
      </p:sp>
      <p:sp>
        <p:nvSpPr>
          <p:cNvPr id="6" name="TextBox 5"/>
          <p:cNvSpPr txBox="1"/>
          <p:nvPr/>
        </p:nvSpPr>
        <p:spPr>
          <a:xfrm>
            <a:off x="1060704" y="2670048"/>
            <a:ext cx="3017520" cy="777240"/>
          </a:xfrm>
          <a:prstGeom prst="rect">
            <a:avLst/>
          </a:prstGeom>
          <a:noFill/>
        </p:spPr>
        <p:txBody>
          <a:bodyPr wrap="square" lIns="0" rIns="0" tIns="0" bIns="0">
            <a:noAutofit/>
          </a:bodyPr>
          <a:lstStyle/>
          <a:p>
            <a:pPr algn="l">
              <a:lnSpc>
                <a:spcPct val="113000"/>
              </a:lnSpc>
            </a:pPr>
            <a:r>
              <a:rPr sz="1000" b="0" i="0">
                <a:solidFill>
                  <a:srgbClr val="E7F0F2"/>
                </a:solidFill>
                <a:latin typeface="Calibri"/>
              </a:rPr>
              <a:t>0.92 macro F1 in the lab, 1-of-6 on genuine ads. We found it, measured it, and can name the cause: training-distribution coverage.</a:t>
            </a:r>
          </a:p>
        </p:txBody>
      </p:sp>
      <p:sp>
        <p:nvSpPr>
          <p:cNvPr id="7" name="Rounded Rectangle 6"/>
          <p:cNvSpPr/>
          <p:nvPr/>
        </p:nvSpPr>
        <p:spPr>
          <a:xfrm>
            <a:off x="4498848" y="1874519"/>
            <a:ext cx="3474720" cy="1600200"/>
          </a:xfrm>
          <a:prstGeom prst="roundRect">
            <a:avLst>
              <a:gd name="adj" fmla="val 8000"/>
            </a:avLst>
          </a:prstGeom>
          <a:solidFill>
            <a:srgbClr val="154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36592" y="2103120"/>
            <a:ext cx="3017520" cy="502920"/>
          </a:xfrm>
          <a:prstGeom prst="rect">
            <a:avLst/>
          </a:prstGeom>
          <a:noFill/>
        </p:spPr>
        <p:txBody>
          <a:bodyPr wrap="square" lIns="0" rIns="0" tIns="0" bIns="0">
            <a:noAutofit/>
          </a:bodyPr>
          <a:lstStyle/>
          <a:p>
            <a:pPr algn="l">
              <a:lnSpc>
                <a:spcPct val="105000"/>
              </a:lnSpc>
            </a:pPr>
            <a:r>
              <a:rPr sz="1400" b="1" i="0">
                <a:solidFill>
                  <a:srgbClr val="E8A33D"/>
                </a:solidFill>
                <a:latin typeface="Cambria"/>
              </a:rPr>
              <a:t>2 · Explanations need evidence</a:t>
            </a:r>
          </a:p>
        </p:txBody>
      </p:sp>
      <p:sp>
        <p:nvSpPr>
          <p:cNvPr id="9" name="TextBox 8"/>
          <p:cNvSpPr txBox="1"/>
          <p:nvPr/>
        </p:nvSpPr>
        <p:spPr>
          <a:xfrm>
            <a:off x="4736592" y="2670048"/>
            <a:ext cx="3017520" cy="777240"/>
          </a:xfrm>
          <a:prstGeom prst="rect">
            <a:avLst/>
          </a:prstGeom>
          <a:noFill/>
        </p:spPr>
        <p:txBody>
          <a:bodyPr wrap="square" lIns="0" rIns="0" tIns="0" bIns="0">
            <a:noAutofit/>
          </a:bodyPr>
          <a:lstStyle/>
          <a:p>
            <a:pPr algn="l">
              <a:lnSpc>
                <a:spcPct val="113000"/>
              </a:lnSpc>
            </a:pPr>
            <a:r>
              <a:rPr sz="1000" b="0" i="0">
                <a:solidFill>
                  <a:srgbClr val="E7F0F2"/>
                </a:solidFill>
                <a:latin typeface="Calibri"/>
              </a:rPr>
              <a:t>Users trusted the tool because it quotes the ad, shows what it read, and badges every claim with its source — model pick or phrase found.</a:t>
            </a:r>
          </a:p>
        </p:txBody>
      </p:sp>
      <p:sp>
        <p:nvSpPr>
          <p:cNvPr id="10" name="Rounded Rectangle 9"/>
          <p:cNvSpPr/>
          <p:nvPr/>
        </p:nvSpPr>
        <p:spPr>
          <a:xfrm>
            <a:off x="8174736" y="1874519"/>
            <a:ext cx="3474720" cy="1600200"/>
          </a:xfrm>
          <a:prstGeom prst="roundRect">
            <a:avLst>
              <a:gd name="adj" fmla="val 8000"/>
            </a:avLst>
          </a:prstGeom>
          <a:solidFill>
            <a:srgbClr val="154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2103120"/>
            <a:ext cx="3017520" cy="502920"/>
          </a:xfrm>
          <a:prstGeom prst="rect">
            <a:avLst/>
          </a:prstGeom>
          <a:noFill/>
        </p:spPr>
        <p:txBody>
          <a:bodyPr wrap="square" lIns="0" rIns="0" tIns="0" bIns="0">
            <a:noAutofit/>
          </a:bodyPr>
          <a:lstStyle/>
          <a:p>
            <a:pPr algn="l">
              <a:lnSpc>
                <a:spcPct val="105000"/>
              </a:lnSpc>
            </a:pPr>
            <a:r>
              <a:rPr sz="1400" b="1" i="0">
                <a:solidFill>
                  <a:srgbClr val="E8A33D"/>
                </a:solidFill>
                <a:latin typeface="Cambria"/>
              </a:rPr>
              <a:t>3 · For 60+, silence beats a false alarm</a:t>
            </a:r>
          </a:p>
        </p:txBody>
      </p:sp>
      <p:sp>
        <p:nvSpPr>
          <p:cNvPr id="12" name="TextBox 11"/>
          <p:cNvSpPr txBox="1"/>
          <p:nvPr/>
        </p:nvSpPr>
        <p:spPr>
          <a:xfrm>
            <a:off x="8412480" y="2670048"/>
            <a:ext cx="3017520" cy="777240"/>
          </a:xfrm>
          <a:prstGeom prst="rect">
            <a:avLst/>
          </a:prstGeom>
          <a:noFill/>
        </p:spPr>
        <p:txBody>
          <a:bodyPr wrap="square" lIns="0" rIns="0" tIns="0" bIns="0">
            <a:noAutofit/>
          </a:bodyPr>
          <a:lstStyle/>
          <a:p>
            <a:pPr algn="l">
              <a:lnSpc>
                <a:spcPct val="113000"/>
              </a:lnSpc>
            </a:pPr>
            <a:r>
              <a:rPr sz="1000" b="0" i="0">
                <a:solidFill>
                  <a:srgbClr val="E7F0F2"/>
                </a:solidFill>
                <a:latin typeface="Calibri"/>
              </a:rPr>
              <a:t>One wrong "this is a pressure tactic" teaches a user to ignore the tool. The confidence guard is a design choice, not a limitation.</a:t>
            </a:r>
          </a:p>
        </p:txBody>
      </p:sp>
      <p:sp>
        <p:nvSpPr>
          <p:cNvPr id="13" name="TextBox 12"/>
          <p:cNvSpPr txBox="1"/>
          <p:nvPr/>
        </p:nvSpPr>
        <p:spPr>
          <a:xfrm>
            <a:off x="822960" y="3977639"/>
            <a:ext cx="7315200" cy="237744"/>
          </a:xfrm>
          <a:prstGeom prst="rect">
            <a:avLst/>
          </a:prstGeom>
          <a:noFill/>
        </p:spPr>
        <p:txBody>
          <a:bodyPr wrap="square" lIns="0" rIns="0" tIns="0" bIns="0">
            <a:noAutofit/>
          </a:bodyPr>
          <a:lstStyle/>
          <a:p>
            <a:pPr algn="l">
              <a:lnSpc>
                <a:spcPct val="105000"/>
              </a:lnSpc>
            </a:pPr>
            <a:r>
              <a:rPr sz="1000" b="1" i="0">
                <a:solidFill>
                  <a:srgbClr val="8FB6BF"/>
                </a:solidFill>
                <a:latin typeface="Calibri"/>
              </a:rPr>
              <a:t>IF WE KEPT GOING</a:t>
            </a:r>
          </a:p>
        </p:txBody>
      </p:sp>
      <p:sp>
        <p:nvSpPr>
          <p:cNvPr id="14" name="TextBox 13"/>
          <p:cNvSpPr txBox="1"/>
          <p:nvPr/>
        </p:nvSpPr>
        <p:spPr>
          <a:xfrm>
            <a:off x="822960" y="4279392"/>
            <a:ext cx="10515600" cy="320040"/>
          </a:xfrm>
          <a:prstGeom prst="rect">
            <a:avLst/>
          </a:prstGeom>
          <a:noFill/>
        </p:spPr>
        <p:txBody>
          <a:bodyPr wrap="square" lIns="0" rIns="0" tIns="0" bIns="0">
            <a:noAutofit/>
          </a:bodyPr>
          <a:lstStyle/>
          <a:p>
            <a:pPr algn="l">
              <a:lnSpc>
                <a:spcPct val="105000"/>
              </a:lnSpc>
            </a:pPr>
            <a:r>
              <a:rPr sz="1100" b="0" i="0">
                <a:solidFill>
                  <a:srgbClr val="BFD9DE"/>
                </a:solidFill>
                <a:latin typeface="Calibri"/>
              </a:rPr>
              <a:t>Multi-label classification head · real-ad training data for uncovered genres (income claims) · a larger usability cohort · hardening the review layer's retrieval.</a:t>
            </a:r>
          </a:p>
        </p:txBody>
      </p:sp>
      <p:sp>
        <p:nvSpPr>
          <p:cNvPr id="15" name="TextBox 14"/>
          <p:cNvSpPr txBox="1"/>
          <p:nvPr/>
        </p:nvSpPr>
        <p:spPr>
          <a:xfrm>
            <a:off x="822960" y="5394960"/>
            <a:ext cx="7315200" cy="548640"/>
          </a:xfrm>
          <a:prstGeom prst="rect">
            <a:avLst/>
          </a:prstGeom>
          <a:noFill/>
        </p:spPr>
        <p:txBody>
          <a:bodyPr wrap="square" lIns="0" rIns="0" tIns="0" bIns="0">
            <a:noAutofit/>
          </a:bodyPr>
          <a:lstStyle/>
          <a:p>
            <a:pPr algn="l">
              <a:lnSpc>
                <a:spcPct val="105000"/>
              </a:lnSpc>
            </a:pPr>
            <a:r>
              <a:rPr sz="2400" b="1" i="0">
                <a:solidFill>
                  <a:srgbClr val="FFFFFF"/>
                </a:solidFill>
                <a:latin typeface="Cambria"/>
              </a:rPr>
              <a:t>Thank you — questions?</a:t>
            </a:r>
          </a:p>
        </p:txBody>
      </p:sp>
      <p:sp>
        <p:nvSpPr>
          <p:cNvPr id="16" name="TextBox 15"/>
          <p:cNvSpPr txBox="1"/>
          <p:nvPr/>
        </p:nvSpPr>
        <p:spPr>
          <a:xfrm>
            <a:off x="822960" y="5989320"/>
            <a:ext cx="10515600" cy="274320"/>
          </a:xfrm>
          <a:prstGeom prst="rect">
            <a:avLst/>
          </a:prstGeom>
          <a:noFill/>
        </p:spPr>
        <p:txBody>
          <a:bodyPr wrap="square" lIns="0" rIns="0" tIns="0" bIns="0">
            <a:noAutofit/>
          </a:bodyPr>
          <a:lstStyle/>
          <a:p>
            <a:pPr algn="l">
              <a:lnSpc>
                <a:spcPct val="105000"/>
              </a:lnSpc>
            </a:pPr>
            <a:r>
              <a:rPr sz="1000" b="0" i="0">
                <a:solidFill>
                  <a:srgbClr val="8FB6BF"/>
                </a:solidFill>
                <a:latin typeface="Calibri"/>
              </a:rPr>
              <a:t>github.com/cpedrett-umd/Group-6-Final-Project  ·  Chris Pedretti · Shashank Ashoka · Ciara Cameron · Jonathan Kim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AdInsight — Final Project Presentation</dc:title>
  <dc:subject/>
  <dc:creator>Group 6</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